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5544800" cy="10058400"/>
  <p:notesSz cx="10058400" cy="1554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1566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280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*</a:t>
            </a:r>
            <a:r>
              <a:rPr lang="en-US" sz="40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The Pivot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“Do LLMs have biases?” to “Did training put them there?”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kern="0" spc="15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563624" y="2788920"/>
            <a:ext cx="365760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6766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original headline question: do frontier models exhibit human-like loss aversion?</a:t>
            </a:r>
            <a:endParaRPr lang="en-US" sz="1600" dirty="0"/>
          </a:p>
          <a:p>
            <a:pPr marL="0" indent="0" algn="l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July-2026 literature review found that question is largely answered. Instruct models show weak, unstable loss aversion.</a:t>
            </a:r>
            <a:endParaRPr lang="en-US" sz="1600" dirty="0"/>
          </a:p>
          <a:p>
            <a:pPr marL="0" indent="0" algn="l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Liu, Yang &amp; Tam (EMNLP 2025): prospect-theory lambda via certainty equivalents.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2025 CPT paper (arXiv 2508.08992): lambda ranges from near 0 to 1.9 across models, against a human benchmark near 2.6.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kern="0" spc="15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285732" y="2788920"/>
            <a:ext cx="365760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3108960"/>
            <a:ext cx="6766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new headline is attribution. Run the identical elicitation on matched base and instruct versions of the same open-weight model.</a:t>
            </a:r>
            <a:endParaRPr lang="en-US" sz="1600" dirty="0"/>
          </a:p>
          <a:p>
            <a:pPr marL="0" indent="0" algn="l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Estimate lambda on each side of post-training.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the base model is frame-invariant and the instruct model is loss-averse, alignment training transferred a human cognitive bias into the model.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8412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published paper does this structurally.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280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*</a:t>
            </a:r>
            <a:r>
              <a:rPr lang="en-US" sz="40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Scope, Narrowed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unclaimed niche, and five measurement commitments.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kern="0" spc="15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NICHE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88820" y="2788920"/>
            <a:ext cx="329184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no single paper combines: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566160"/>
            <a:ext cx="6766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Choice-level maximum-likelihood estimation on binary lottery choices.</a:t>
            </a:r>
            <a:endParaRPr lang="en-US" sz="1600" dirty="0"/>
          </a:p>
          <a:p>
            <a:pPr marL="228600" indent="-228600" algn="l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Koszegi-Rabin loss aversion AND an endogenous reference point identified from gain/loss framing.</a:t>
            </a:r>
            <a:endParaRPr lang="en-US" sz="1600" dirty="0"/>
          </a:p>
          <a:p>
            <a:pPr marL="228600" indent="-228600" algn="l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formal frame-invariance test.</a:t>
            </a:r>
            <a:endParaRPr lang="en-US" sz="1600" dirty="0"/>
          </a:p>
          <a:p>
            <a:pPr marL="228600" indent="-228600" algn="l">
              <a:lnSpc>
                <a:spcPct val="112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matched base-vs-instruct contrast.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2104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kern="0" spc="15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COMMITMENTS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136124" y="2788920"/>
            <a:ext cx="292608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21040" y="3108960"/>
            <a:ext cx="676656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Contamination-safe procedural instruments. No textbook Holt-Laury rows; models have memorized them.</a:t>
            </a:r>
            <a:endParaRPr lang="en-US" sz="1600" dirty="0"/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Counterbalanced option order, with position bias estimated as a nuisance parameter.</a:t>
            </a:r>
            <a:endParaRPr lang="en-US" sz="1600" dirty="0"/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Five paraphrase templates entering as a random effect.</a:t>
            </a:r>
            <a:endParaRPr lang="en-US" sz="1600" dirty="0"/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Log-probabilities read directly where available, instead of trusting temperature sampling as choice noise.</a:t>
            </a:r>
            <a:endParaRPr lang="en-US" sz="1600" dirty="0"/>
          </a:p>
          <a:p>
            <a:pPr marL="228600" indent="-228600" algn="l">
              <a:lnSpc>
                <a:spcPct val="110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Pinned model snapshots plus a positive control, so a null framing result is interpretable.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420088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676120" y="9619488"/>
            <a:ext cx="182880" cy="182880"/>
          </a:xfrm>
          <a:prstGeom prst="ellipse">
            <a:avLst/>
          </a:prstGeom>
          <a:solidFill>
            <a:srgbClr val="758C58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932152" y="961948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1280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*</a:t>
            </a:r>
            <a:r>
              <a:rPr lang="en-US" sz="40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Status and Runway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kern="0" spc="15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STATUS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563624" y="2103120"/>
            <a:ext cx="384048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built and validated end to end this week.</a:t>
            </a:r>
            <a:endParaRPr lang="en-US" sz="1600" dirty="0"/>
          </a:p>
          <a:p>
            <a:pPr marL="0" indent="0" algn="l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simulated agent with true r = 0.5 was recovered at r = 0.554, 95% CI [0.477, 0.630].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sanity checks pass: position balance, EV monotonicity, zero discards.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983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kern="0" spc="15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80160" y="5120640"/>
            <a:ext cx="384048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44068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Phase 1 run on Claude (about 1,200 calls, a few dollars).</a:t>
            </a:r>
            <a:endParaRPr lang="en-US" sz="1600" dirty="0"/>
          </a:p>
          <a:p>
            <a:pPr marL="228600" indent="-228600" algn="l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Phase 2 framing manipulation.</a:t>
            </a:r>
            <a:endParaRPr lang="en-US" sz="1600" dirty="0"/>
          </a:p>
          <a:p>
            <a:pPr marL="228600" indent="-228600" algn="l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Phase 3 base-vs-instruct on an open-model pair.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kern="0" spc="15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TIMELINE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10928" y="2103120"/>
            <a:ext cx="365760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2441448"/>
            <a:ext cx="0" cy="310896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496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1-2</a:t>
            </a:r>
            <a:r>
              <a:rPr lang="en-US" sz="1300" kern="0" spc="100" dirty="0">
                <a:solidFill>
                  <a:srgbClr val="758C5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(done)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835640" y="24688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Harness + pilot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21040" y="3044952"/>
            <a:ext cx="0" cy="310896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549640" y="30723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835640" y="3072384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Phase 1 estimate locked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321040" y="3648456"/>
            <a:ext cx="0" cy="310896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549640" y="36758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4-5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35640" y="367588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Framing design + run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321040" y="4251960"/>
            <a:ext cx="0" cy="310896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549640" y="42793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835640" y="4279392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Base-vs-instruct arm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321040" y="4855464"/>
            <a:ext cx="0" cy="310896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549640" y="48828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7-8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835640" y="488289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Estimation + hypothesis tests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321040" y="5458968"/>
            <a:ext cx="0" cy="310896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54964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9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835640" y="54864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Robustness + draft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321040" y="6062472"/>
            <a:ext cx="0" cy="310896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549640" y="60899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1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835640" y="6089904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Final briefing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57200" y="854964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presentable result exists by week 3. Everything after adds ambition, never risk.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416</Words>
  <Application>Microsoft Macintosh PowerPoint</Application>
  <PresentationFormat>Custom</PresentationFormat>
  <Paragraphs>54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Helvetica Neue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Pivot Briefing — LLM Revealed Preferences</dc:title>
  <dc:subject>PptxGenJS Presentation</dc:subject>
  <dc:creator>J. Blakeslee</dc:creator>
  <cp:lastModifiedBy>John Blakeslee</cp:lastModifiedBy>
  <cp:revision>2</cp:revision>
  <dcterms:created xsi:type="dcterms:W3CDTF">2026-07-04T18:51:15Z</dcterms:created>
  <dcterms:modified xsi:type="dcterms:W3CDTF">2026-07-06T19:22:10Z</dcterms:modified>
</cp:coreProperties>
</file>