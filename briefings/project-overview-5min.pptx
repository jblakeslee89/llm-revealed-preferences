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3.xml" ContentType="application/vnd.openxmlformats-officedocument.presentationml.notesSlide+xml"/>
  <Override PartName="/ppt/notesSlides/notesSlide5.xml" ContentType="application/vnd.openxmlformats-officedocument.presentationml.notesSlide+xml"/>
  <Override PartName="/ppt/notesSlides/notesSlide7.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3.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8" r:id="rId4"/>
    <p:sldId id="260" r:id="rId6"/>
    <p:sldId id="262" r:id="rId8"/>
    <p:sldId id="266" r:id="rId17"/>
    <p:sldId id="267" r:id="rId18"/>
    <p:sldId id="264" r:id="rId10"/>
  </p:sldIdLst>
  <p:sldSz cx="15544800" cy="10058400"/>
  <p:notesSz cx="10058400" cy="155448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1" d="100"/>
          <a:sy n="81" d="100"/>
        </p:scale>
        <p:origin x="920"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4" Type="http://schemas.openxmlformats.org/officeDocument/2006/relationships/slide" Target="slides/slide3.xml"/><Relationship Id="rId6" Type="http://schemas.openxmlformats.org/officeDocument/2006/relationships/slide" Target="slides/slide5.xml"/><Relationship Id="rId8" Type="http://schemas.openxmlformats.org/officeDocument/2006/relationships/slide" Target="slides/slide7.xml"/><Relationship Id="rId10" Type="http://schemas.openxmlformats.org/officeDocument/2006/relationships/slide" Target="slides/slide11.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9.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333248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sure eighty-six dollars, or a forty-three percent shot at two hundred and ten? Economists use choices like this to measure how people handle risk. Since July I have asked AI models the same kind of question, more than forty-two thousand times, across nine models from four families. Three things came out of it. The models' choices have a measurable structure. Most of that structure is set at one early training step. And it changes when the model is allowed to think before it answers.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method is simple. Every model sees the same sixteen hundred and eighty questions, and only one thing changes at a time: the odds, the prize, the wording, or the order of the options. We read the answer from the model's internal probabilities, so each question is asked once and the answer is exact. Eighty questions are free money, a sure fifty against a sure seventy, to check the model is paying attention. Since September we also let the models write out their reasoning first.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OLMo publishes a snapshot after every training step, so we could ask the same questions at four points in one model's life. Most of the change happens at supervised fine-tuning, the first and simplest step, where the model learns from examples of helpful answers. Free-money accuracy jumps from fifty-six to seventy-six percent there, the largest single step, and the preferences we estimate stop moving after it. Preference training, the step usually blamed for human-like biases, finds the profile already in place. When a model answers at once, its money personality is mostly set early.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finding is that the bias belongs to the training recipe. Describe the same bet as a loss instead of a smaller gain, with identical arithmetic. Claude Haiku gambles less, Qwen gambles far more, OLMo somewhat more, and Llama barely reacts. Four systems, four reactions. A framing weakness documented on one model says little about another.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takeaways. Audit at the fine-tuning checkpoint, because that is where most of the snap-answer profile appears. Say whether you measured snap answers or reasoning, because the two can disagree. Check that the subject is paying attention before trusting any estimate. And read reasoning traces knowing each family has its own habits. Next, we pay the model while it reasons, use the same machinery to ask whether AI agents favor their own kind, and then ask whether the risk habits we measured show up in the advice a model gives a commander or an official, with the same numbers as our bets. Thank you.</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Third, all of that describes snap answers. Told to maximize expected value and answering at once, the models we tested sit near a coin flip. Allowed to reason first, they follow the rule seventy-one to ninety-six percent of the time, and the loss-wording effect shrinks, vanishes, or reverses. In OLMo this change happens at preference training: the step that left the snap answers alone is the one that changes how the model reasons.</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Reading the reasoning brought a surprise. Most remaining errors get the arithmetic right and then state the comparison backward. Qwen's backward verdicts always favor the sure amount and follow one phrase, which is less than the guaranteed amount. Llama's go the other way and favor whichever option it read first. Telling the model the rule removes Qwen's errors. Paying a model through training for its snap answers taught it a fixed answer and nothing else.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notesSlide" Target="../notesSlides/notesSlide11.xml"/><Relationship Id="rId6" Type="http://schemas.openxmlformats.org/officeDocument/2006/relationships/image" Target="../media/image8.png"/><Relationship Id="rId7"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457200" y="1143000"/>
            <a:ext cx="14630400" cy="0"/>
          </a:xfrm>
          <a:prstGeom prst="line">
            <a:avLst/>
          </a:prstGeom>
          <a:noFill/>
          <a:ln w="6350">
            <a:solidFill>
              <a:srgbClr val="761DDB"/>
            </a:solidFill>
            <a:prstDash val="solid"/>
          </a:ln>
        </p:spPr>
        <p:txBody>
          <a:bodyPr/>
          <a:lstStyle/>
          <a:p>
            <a:endParaRPr lang="en-US"/>
          </a:p>
        </p:txBody>
      </p:sp>
      <p:pic>
        <p:nvPicPr>
          <p:cNvPr id="3" name="Image 0" descr="/private/tmp/claude-501/-Users-johnpb89-Desktop/751e14e8-de1e-42cb-8bce-61bc0e103cc2/scratchpad/rand/rand_logo.png"/>
          <p:cNvPicPr>
            <a:picLocks noChangeAspect="1"/>
          </p:cNvPicPr>
          <p:nvPr/>
        </p:nvPicPr>
        <p:blipFill>
          <a:blip r:embed="rId3"/>
          <a:stretch>
            <a:fillRect/>
          </a:stretch>
        </p:blipFill>
        <p:spPr>
          <a:xfrm>
            <a:off x="14438376" y="320040"/>
            <a:ext cx="640080" cy="640080"/>
          </a:xfrm>
          <a:prstGeom prst="rect">
            <a:avLst/>
          </a:prstGeom>
        </p:spPr>
      </p:pic>
      <p:sp>
        <p:nvSpPr>
          <p:cNvPr id="4" name="Text 1"/>
          <p:cNvSpPr txBox="1"/>
          <p:nvPr/>
        </p:nvSpPr>
        <p:spPr>
          <a:xfrm>
            <a:off x="457200" y="2057400"/>
            <a:ext cx="14447520" cy="1188720"/>
          </a:xfrm>
          <a:prstGeom prst="rect">
            <a:avLst/>
          </a:prstGeom>
          <a:noFill/>
          <a:ln/>
        </p:spPr>
        <p:txBody>
          <a:bodyPr wrap="square" lIns="0" tIns="0" rIns="0" bIns="0" rtlCol="0" anchor="t"/>
          <a:lstStyle/>
          <a:p>
            <a:pPr marL="0" indent="0">
              <a:buNone/>
            </a:pPr>
            <a:r>
              <a:rPr lang="en-US" sz="5400" dirty="0">
                <a:solidFill>
                  <a:srgbClr val="1C1C1E"/>
                </a:solidFill>
                <a:latin typeface="Georgia" pitchFamily="34" charset="0"/>
                <a:ea typeface="Georgia" pitchFamily="34" charset="-122"/>
                <a:cs typeface="Georgia" pitchFamily="34" charset="-120"/>
              </a:rPr>
              <a:t>A sure $86, or a 43% shot at $210?</a:t>
            </a:r>
            <a:endParaRPr lang="en-US" sz="5400" dirty="0"/>
          </a:p>
        </p:txBody>
      </p:sp>
      <p:sp>
        <p:nvSpPr>
          <p:cNvPr id="5" name="Text 2"/>
          <p:cNvSpPr txBox="1"/>
          <p:nvPr/>
        </p:nvSpPr>
        <p:spPr>
          <a:xfrm>
            <a:off x="457200" y="3703320"/>
            <a:ext cx="12070080" cy="868680"/>
          </a:xfrm>
          <a:prstGeom prst="rect">
            <a:avLst/>
          </a:prstGeom>
          <a:noFill/>
          <a:ln/>
        </p:spPr>
        <p:txBody>
          <a:bodyPr wrap="square" lIns="0" tIns="0" rIns="0" bIns="0" rtlCol="0" anchor="t"/>
          <a:lstStyle/>
          <a:p>
            <a:pPr marL="0" indent="0">
              <a:lnSpc>
                <a:spcPct val="130000"/>
              </a:lnSpc>
              <a:buNone/>
            </a:pPr>
            <a:r>
              <a:rPr lang="en-US" sz="2100" dirty="0">
                <a:solidFill>
                  <a:srgbClr val="761DDB"/>
                </a:solidFill>
                <a:latin typeface="Helvetica Neue" pitchFamily="34" charset="0"/>
                <a:ea typeface="Helvetica Neue" pitchFamily="34" charset="-122"/>
                <a:cs typeface="Helvetica Neue" pitchFamily="34" charset="-120"/>
              </a:rPr>
              <a:t>We put that question to nine AI models from four families, 42,505 times in all.</a:t>
            </a:r>
            <a:endParaRPr lang="en-US" sz="2100" dirty="0"/>
          </a:p>
        </p:txBody>
      </p:sp>
      <p:sp>
        <p:nvSpPr>
          <p:cNvPr id="6" name="Text 3"/>
          <p:cNvSpPr txBox="1"/>
          <p:nvPr/>
        </p:nvSpPr>
        <p:spPr>
          <a:xfrm>
            <a:off x="457200" y="5120640"/>
            <a:ext cx="13716000" cy="914400"/>
          </a:xfrm>
          <a:prstGeom prst="rect">
            <a:avLst/>
          </a:prstGeom>
          <a:noFill/>
          <a:ln/>
        </p:spPr>
        <p:txBody>
          <a:bodyPr wrap="square" lIns="0" tIns="0" rIns="0" bIns="0" rtlCol="0" anchor="t"/>
          <a:lstStyle/>
          <a:p>
            <a:pPr marL="0" indent="0">
              <a:buNone/>
            </a:pPr>
            <a:r>
              <a:rPr lang="en-US" sz="3400" dirty="0">
                <a:solidFill>
                  <a:srgbClr val="1C1C1E"/>
                </a:solidFill>
                <a:latin typeface="Georgia" pitchFamily="34" charset="0"/>
                <a:ea typeface="Georgia" pitchFamily="34" charset="-122"/>
                <a:cs typeface="Georgia" pitchFamily="34" charset="-120"/>
              </a:rPr>
              <a:t>Their choices have a structure, it is mostly set at one training step, and it changes when they think first.</a:t>
            </a:r>
            <a:endParaRPr lang="en-US" sz="3400" dirty="0"/>
          </a:p>
        </p:txBody>
      </p:sp>
      <p:sp>
        <p:nvSpPr>
          <p:cNvPr id="7" name="Text 4"/>
          <p:cNvSpPr txBox="1"/>
          <p:nvPr/>
        </p:nvSpPr>
        <p:spPr>
          <a:xfrm>
            <a:off x="457200" y="6858000"/>
            <a:ext cx="9144000" cy="365760"/>
          </a:xfrm>
          <a:prstGeom prst="rect">
            <a:avLst/>
          </a:prstGeom>
          <a:noFill/>
          <a:ln/>
        </p:spPr>
        <p:txBody>
          <a:bodyPr wrap="square" lIns="0" tIns="0" rIns="0" bIns="0" rtlCol="0" anchor="t"/>
          <a:lstStyle/>
          <a:p>
            <a:pPr marL="0" indent="0">
              <a:buNone/>
            </a:pPr>
            <a:r>
              <a:rPr lang="en-US" sz="1700" dirty="0">
                <a:solidFill>
                  <a:srgbClr val="1C1C1E"/>
                </a:solidFill>
                <a:latin typeface="Helvetica Neue" pitchFamily="34" charset="0"/>
                <a:ea typeface="Helvetica Neue" pitchFamily="34" charset="-122"/>
                <a:cs typeface="Helvetica Neue" pitchFamily="34" charset="-120"/>
              </a:rPr>
              <a:t>John Blakeslee</a:t>
            </a:r>
            <a:endParaRPr lang="en-US" sz="1700" dirty="0"/>
          </a:p>
        </p:txBody>
      </p:sp>
      <p:sp>
        <p:nvSpPr>
          <p:cNvPr id="8" name="Text 5"/>
          <p:cNvSpPr txBox="1"/>
          <p:nvPr/>
        </p:nvSpPr>
        <p:spPr>
          <a:xfrm>
            <a:off x="457200" y="7242048"/>
            <a:ext cx="9144000" cy="365760"/>
          </a:xfrm>
          <a:prstGeom prst="rect">
            <a:avLst/>
          </a:prstGeom>
          <a:noFill/>
          <a:ln/>
        </p:spPr>
        <p:txBody>
          <a:bodyPr wrap="square" lIns="0" tIns="0" rIns="0" bIns="0" rtlCol="0" anchor="t"/>
          <a:lstStyle/>
          <a:p>
            <a:pPr marL="0" indent="0">
              <a:buNone/>
            </a:pPr>
            <a:r>
              <a:rPr lang="en-US" sz="1700" dirty="0">
                <a:solidFill>
                  <a:srgbClr val="6E6862"/>
                </a:solidFill>
                <a:latin typeface="Helvetica Neue" pitchFamily="34" charset="0"/>
                <a:ea typeface="Helvetica Neue" pitchFamily="34" charset="-122"/>
                <a:cs typeface="Helvetica Neue" pitchFamily="34" charset="-120"/>
              </a:rPr>
              <a:t>RAND School of Public Policy, AI Sprint Practicum</a:t>
            </a:r>
            <a:endParaRPr lang="en-US" sz="1700" dirty="0"/>
          </a:p>
        </p:txBody>
      </p:sp>
      <p:sp>
        <p:nvSpPr>
          <p:cNvPr id="9" name="Shape 6"/>
          <p:cNvSpPr/>
          <p:nvPr/>
        </p:nvSpPr>
        <p:spPr>
          <a:xfrm>
            <a:off x="457200" y="8421624"/>
            <a:ext cx="3200400" cy="0"/>
          </a:xfrm>
          <a:prstGeom prst="line">
            <a:avLst/>
          </a:prstGeom>
          <a:noFill/>
          <a:ln w="9525">
            <a:solidFill>
              <a:srgbClr val="CFCAC4"/>
            </a:solidFill>
            <a:prstDash val="solid"/>
          </a:ln>
        </p:spPr>
        <p:txBody>
          <a:bodyPr/>
          <a:lstStyle/>
          <a:p>
            <a:endParaRPr lang="en-US"/>
          </a:p>
        </p:txBody>
      </p:sp>
      <p:sp>
        <p:nvSpPr>
          <p:cNvPr id="10" name="Text 7"/>
          <p:cNvSpPr txBox="1"/>
          <p:nvPr/>
        </p:nvSpPr>
        <p:spPr>
          <a:xfrm>
            <a:off x="457200"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LLM revealed preferences</a:t>
            </a:r>
            <a:endParaRPr lang="en-US" sz="1200" dirty="0"/>
          </a:p>
        </p:txBody>
      </p:sp>
      <p:sp>
        <p:nvSpPr>
          <p:cNvPr id="11" name="Shape 8"/>
          <p:cNvSpPr/>
          <p:nvPr/>
        </p:nvSpPr>
        <p:spPr>
          <a:xfrm>
            <a:off x="4270248" y="8421624"/>
            <a:ext cx="3200400" cy="0"/>
          </a:xfrm>
          <a:prstGeom prst="line">
            <a:avLst/>
          </a:prstGeom>
          <a:noFill/>
          <a:ln w="9525">
            <a:solidFill>
              <a:srgbClr val="CFCAC4"/>
            </a:solidFill>
            <a:prstDash val="solid"/>
          </a:ln>
        </p:spPr>
        <p:txBody>
          <a:bodyPr/>
          <a:lstStyle/>
          <a:p>
            <a:endParaRPr lang="en-US"/>
          </a:p>
        </p:txBody>
      </p:sp>
      <p:sp>
        <p:nvSpPr>
          <p:cNvPr id="12" name="Text 9"/>
          <p:cNvSpPr txBox="1"/>
          <p:nvPr/>
        </p:nvSpPr>
        <p:spPr>
          <a:xfrm>
            <a:off x="4270248"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Project overview</a:t>
            </a:r>
            <a:endParaRPr lang="en-US" sz="1200" dirty="0"/>
          </a:p>
        </p:txBody>
      </p:sp>
      <p:sp>
        <p:nvSpPr>
          <p:cNvPr id="13" name="Shape 10"/>
          <p:cNvSpPr/>
          <p:nvPr/>
        </p:nvSpPr>
        <p:spPr>
          <a:xfrm>
            <a:off x="8083296" y="8421624"/>
            <a:ext cx="3200400" cy="0"/>
          </a:xfrm>
          <a:prstGeom prst="line">
            <a:avLst/>
          </a:prstGeom>
          <a:noFill/>
          <a:ln w="9525">
            <a:solidFill>
              <a:srgbClr val="CFCAC4"/>
            </a:solidFill>
            <a:prstDash val="solid"/>
          </a:ln>
        </p:spPr>
        <p:txBody>
          <a:bodyPr/>
          <a:lstStyle/>
          <a:p>
            <a:endParaRPr lang="en-US"/>
          </a:p>
        </p:txBody>
      </p:sp>
      <p:sp>
        <p:nvSpPr>
          <p:cNvPr id="14" name="Text 11"/>
          <p:cNvSpPr txBox="1"/>
          <p:nvPr/>
        </p:nvSpPr>
        <p:spPr>
          <a:xfrm>
            <a:off x="8083296"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October 2026</a:t>
            </a:r>
            <a:endParaRPr lang="en-US" sz="1200" dirty="0"/>
          </a:p>
        </p:txBody>
      </p:sp>
      <p:sp>
        <p:nvSpPr>
          <p:cNvPr id="15" name="Shape 12"/>
          <p:cNvSpPr/>
          <p:nvPr/>
        </p:nvSpPr>
        <p:spPr>
          <a:xfrm>
            <a:off x="11896344" y="8421624"/>
            <a:ext cx="3200400" cy="0"/>
          </a:xfrm>
          <a:prstGeom prst="line">
            <a:avLst/>
          </a:prstGeom>
          <a:noFill/>
          <a:ln w="9525">
            <a:solidFill>
              <a:srgbClr val="CFCAC4"/>
            </a:solidFill>
            <a:prstDash val="solid"/>
          </a:ln>
        </p:spPr>
        <p:txBody>
          <a:bodyPr/>
          <a:lstStyle/>
          <a:p>
            <a:endParaRPr lang="en-US"/>
          </a:p>
        </p:txBody>
      </p:sp>
      <p:sp>
        <p:nvSpPr>
          <p:cNvPr id="16" name="Text 13"/>
          <p:cNvSpPr txBox="1"/>
          <p:nvPr/>
        </p:nvSpPr>
        <p:spPr>
          <a:xfrm>
            <a:off x="11896344"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7 slides</a:t>
            </a:r>
            <a:endParaRPr lang="en-US" sz="1200" dirty="0"/>
          </a:p>
        </p:txBody>
      </p:sp>
      <p:sp>
        <p:nvSpPr>
          <p:cNvPr id="20" name="Shape 17"/>
          <p:cNvSpPr/>
          <p:nvPr/>
        </p:nvSpPr>
        <p:spPr>
          <a:xfrm>
            <a:off x="13395960" y="9528048"/>
            <a:ext cx="182880" cy="182880"/>
          </a:xfrm>
          <a:prstGeom prst="ellipse">
            <a:avLst/>
          </a:prstGeom>
          <a:solidFill>
            <a:srgbClr val="761DDB"/>
          </a:solidFill>
          <a:ln/>
        </p:spPr>
        <p:txBody>
          <a:bodyPr/>
          <a:lstStyle/>
          <a:p>
            <a:endParaRPr lang="en-US"/>
          </a:p>
        </p:txBody>
      </p:sp>
      <p:sp>
        <p:nvSpPr>
          <p:cNvPr id="21" name="Shape 18"/>
          <p:cNvSpPr/>
          <p:nvPr/>
        </p:nvSpPr>
        <p:spPr>
          <a:xfrm>
            <a:off x="13651992" y="9528048"/>
            <a:ext cx="182880" cy="182880"/>
          </a:xfrm>
          <a:prstGeom prst="ellipse">
            <a:avLst/>
          </a:prstGeom>
          <a:solidFill>
            <a:srgbClr val="761DDB">
              <a:alpha val="22000"/>
            </a:srgbClr>
          </a:solidFill>
          <a:ln/>
        </p:spPr>
        <p:txBody>
          <a:bodyPr/>
          <a:lstStyle/>
          <a:p>
            <a:endParaRPr lang="en-US"/>
          </a:p>
        </p:txBody>
      </p:sp>
      <p:sp>
        <p:nvSpPr>
          <p:cNvPr id="22" name="Shape 19"/>
          <p:cNvSpPr/>
          <p:nvPr/>
        </p:nvSpPr>
        <p:spPr>
          <a:xfrm>
            <a:off x="13908024" y="9528048"/>
            <a:ext cx="182880" cy="182880"/>
          </a:xfrm>
          <a:prstGeom prst="ellipse">
            <a:avLst/>
          </a:prstGeom>
          <a:solidFill>
            <a:srgbClr val="761DDB">
              <a:alpha val="22000"/>
            </a:srgbClr>
          </a:solidFill>
          <a:ln/>
        </p:spPr>
        <p:txBody>
          <a:bodyPr/>
          <a:lstStyle/>
          <a:p>
            <a:endParaRPr lang="en-US"/>
          </a:p>
        </p:txBody>
      </p:sp>
      <p:sp>
        <p:nvSpPr>
          <p:cNvPr id="23" name="Shape 20"/>
          <p:cNvSpPr/>
          <p:nvPr/>
        </p:nvSpPr>
        <p:spPr>
          <a:xfrm>
            <a:off x="14164056" y="9528048"/>
            <a:ext cx="182880" cy="182880"/>
          </a:xfrm>
          <a:prstGeom prst="ellipse">
            <a:avLst/>
          </a:prstGeom>
          <a:solidFill>
            <a:srgbClr val="761DDB">
              <a:alpha val="22000"/>
            </a:srgbClr>
          </a:solidFill>
          <a:ln/>
        </p:spPr>
        <p:txBody>
          <a:bodyPr/>
          <a:lstStyle/>
          <a:p>
            <a:endParaRPr lang="en-US"/>
          </a:p>
        </p:txBody>
      </p:sp>
      <p:sp>
        <p:nvSpPr>
          <p:cNvPr id="24" name="Shape 21"/>
          <p:cNvSpPr/>
          <p:nvPr/>
        </p:nvSpPr>
        <p:spPr>
          <a:xfrm>
            <a:off x="14420088" y="9528048"/>
            <a:ext cx="182880" cy="182880"/>
          </a:xfrm>
          <a:prstGeom prst="ellipse">
            <a:avLst/>
          </a:prstGeom>
          <a:solidFill>
            <a:srgbClr val="761DDB">
              <a:alpha val="22000"/>
            </a:srgbClr>
          </a:solidFill>
          <a:ln/>
        </p:spPr>
        <p:txBody>
          <a:bodyPr/>
          <a:lstStyle/>
          <a:p>
            <a:endParaRPr lang="en-US"/>
          </a:p>
        </p:txBody>
      </p:sp>
      <p:sp>
        <p:nvSpPr>
          <p:cNvPr id="25" name="Shape 22"/>
          <p:cNvSpPr/>
          <p:nvPr/>
        </p:nvSpPr>
        <p:spPr>
          <a:xfrm>
            <a:off x="14676120" y="9528048"/>
            <a:ext cx="182880" cy="182880"/>
          </a:xfrm>
          <a:prstGeom prst="ellipse">
            <a:avLst/>
          </a:prstGeom>
          <a:solidFill>
            <a:srgbClr val="761DDB">
              <a:alpha val="22000"/>
            </a:srgbClr>
          </a:solidFill>
          <a:ln/>
        </p:spPr>
        <p:txBody>
          <a:bodyPr/>
          <a:lstStyle/>
          <a:p>
            <a:endParaRPr lang="en-US"/>
          </a:p>
        </p:txBody>
      </p:sp>
      <p:sp>
        <p:nvSpPr>
          <p:cNvPr id="26" name="Shape 23"/>
          <p:cNvSpPr/>
          <p:nvPr/>
        </p:nvSpPr>
        <p:spPr>
          <a:xfrm>
            <a:off x="14932152" y="9528048"/>
            <a:ext cx="182880" cy="182880"/>
          </a:xfrm>
          <a:prstGeom prst="ellipse">
            <a:avLst/>
          </a:prstGeom>
          <a:solidFill>
            <a:srgbClr val="761DDB">
              <a:alpha val="22000"/>
            </a:srgbClr>
          </a:solidFill>
          <a:ln/>
        </p:spPr>
        <p:txBody>
          <a:bodyP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57200" y="685800"/>
            <a:ext cx="14630400" cy="0"/>
          </a:xfrm>
          <a:prstGeom prst="line">
            <a:avLst/>
          </a:prstGeom>
          <a:noFill/>
          <a:ln w="6350">
            <a:solidFill>
              <a:srgbClr val="761DDB"/>
            </a:solidFill>
            <a:prstDash val="solid"/>
          </a:ln>
        </p:spPr>
        <p:txBody>
          <a:bodyPr/>
          <a:lstStyle/>
          <a:p>
            <a:endParaRPr lang="en-US"/>
          </a:p>
        </p:txBody>
      </p:sp>
      <p:pic>
        <p:nvPicPr>
          <p:cNvPr id="3" name="Image 0" descr="/private/tmp/claude-501/-Users-johnpb89-Desktop/751e14e8-de1e-42cb-8bce-61bc0e103cc2/scratchpad/rand/rand_logo.png"/>
          <p:cNvPicPr>
            <a:picLocks noChangeAspect="1"/>
          </p:cNvPicPr>
          <p:nvPr/>
        </p:nvPicPr>
        <p:blipFill>
          <a:blip r:embed="rId3"/>
          <a:stretch>
            <a:fillRect/>
          </a:stretch>
        </p:blipFill>
        <p:spPr>
          <a:xfrm>
            <a:off x="14621256" y="164592"/>
            <a:ext cx="457200" cy="457200"/>
          </a:xfrm>
          <a:prstGeom prst="rect">
            <a:avLst/>
          </a:prstGeom>
        </p:spPr>
      </p:pic>
      <p:sp>
        <p:nvSpPr>
          <p:cNvPr id="4" name="Text 1"/>
          <p:cNvSpPr txBox="1"/>
          <p:nvPr/>
        </p:nvSpPr>
        <p:spPr>
          <a:xfrm>
            <a:off x="457200" y="896112"/>
            <a:ext cx="13807440" cy="822960"/>
          </a:xfrm>
          <a:prstGeom prst="rect">
            <a:avLst/>
          </a:prstGeom>
          <a:noFill/>
          <a:ln/>
        </p:spPr>
        <p:txBody>
          <a:bodyPr wrap="square" lIns="0" tIns="0" rIns="0" bIns="0" rtlCol="0" anchor="t"/>
          <a:lstStyle/>
          <a:p>
            <a:pPr marL="0" indent="0">
              <a:buNone/>
            </a:pPr>
            <a:r>
              <a:rPr lang="en-US" sz="4000" dirty="0">
                <a:solidFill>
                  <a:srgbClr val="1C1C1E"/>
                </a:solidFill>
                <a:latin typeface="Georgia" pitchFamily="34" charset="0"/>
                <a:ea typeface="Georgia" pitchFamily="34" charset="-122"/>
                <a:cs typeface="Georgia" pitchFamily="34" charset="-120"/>
              </a:rPr>
              <a:t>How the experiment works</a:t>
            </a:r>
            <a:endParaRPr lang="en-US" sz="4000" dirty="0"/>
          </a:p>
        </p:txBody>
      </p:sp>
      <p:sp>
        <p:nvSpPr>
          <p:cNvPr id="5" name="Text 2"/>
          <p:cNvSpPr txBox="1"/>
          <p:nvPr/>
        </p:nvSpPr>
        <p:spPr>
          <a:xfrm>
            <a:off x="457200" y="1810512"/>
            <a:ext cx="13807440" cy="566928"/>
          </a:xfrm>
          <a:prstGeom prst="rect">
            <a:avLst/>
          </a:prstGeom>
          <a:noFill/>
          <a:ln/>
        </p:spPr>
        <p:txBody>
          <a:bodyPr wrap="square" lIns="0" tIns="0" rIns="0" bIns="0" rtlCol="0" anchor="t"/>
          <a:lstStyle/>
          <a:p>
            <a:pPr marL="0" indent="0">
              <a:lnSpc>
                <a:spcPct val="125000"/>
              </a:lnSpc>
              <a:buNone/>
            </a:pPr>
            <a:r>
              <a:rPr lang="en-US" sz="2000" dirty="0">
                <a:solidFill>
                  <a:srgbClr val="6E6862"/>
                </a:solidFill>
                <a:latin typeface="Helvetica Neue" pitchFamily="34" charset="0"/>
                <a:ea typeface="Helvetica Neue" pitchFamily="34" charset="-122"/>
                <a:cs typeface="Helvetica Neue" pitchFamily="34" charset="-120"/>
              </a:rPr>
              <a:t>Every model sees byte-identical questions. One thing changes at a time: the odds, the prize, the wording, or the order.</a:t>
            </a:r>
            <a:endParaRPr lang="en-US" sz="2000" dirty="0"/>
          </a:p>
        </p:txBody>
      </p:sp>
      <p:sp>
        <p:nvSpPr>
          <p:cNvPr id="6" name="Shape 3"/>
          <p:cNvSpPr/>
          <p:nvPr/>
        </p:nvSpPr>
        <p:spPr>
          <a:xfrm>
            <a:off x="457200" y="8421624"/>
            <a:ext cx="3200400" cy="0"/>
          </a:xfrm>
          <a:prstGeom prst="line">
            <a:avLst/>
          </a:prstGeom>
          <a:noFill/>
          <a:ln w="9525">
            <a:solidFill>
              <a:srgbClr val="CFCAC4"/>
            </a:solidFill>
            <a:prstDash val="solid"/>
          </a:ln>
        </p:spPr>
        <p:txBody>
          <a:bodyPr/>
          <a:lstStyle/>
          <a:p>
            <a:endParaRPr lang="en-US"/>
          </a:p>
        </p:txBody>
      </p:sp>
      <p:sp>
        <p:nvSpPr>
          <p:cNvPr id="7" name="Text 4"/>
          <p:cNvSpPr txBox="1"/>
          <p:nvPr/>
        </p:nvSpPr>
        <p:spPr>
          <a:xfrm>
            <a:off x="457200"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LLM revealed preferences</a:t>
            </a:r>
            <a:endParaRPr lang="en-US" sz="1200" dirty="0"/>
          </a:p>
        </p:txBody>
      </p:sp>
      <p:sp>
        <p:nvSpPr>
          <p:cNvPr id="8" name="Shape 5"/>
          <p:cNvSpPr/>
          <p:nvPr/>
        </p:nvSpPr>
        <p:spPr>
          <a:xfrm>
            <a:off x="4270248" y="8421624"/>
            <a:ext cx="3200400" cy="0"/>
          </a:xfrm>
          <a:prstGeom prst="line">
            <a:avLst/>
          </a:prstGeom>
          <a:noFill/>
          <a:ln w="9525">
            <a:solidFill>
              <a:srgbClr val="CFCAC4"/>
            </a:solidFill>
            <a:prstDash val="solid"/>
          </a:ln>
        </p:spPr>
        <p:txBody>
          <a:bodyPr/>
          <a:lstStyle/>
          <a:p>
            <a:endParaRPr lang="en-US"/>
          </a:p>
        </p:txBody>
      </p:sp>
      <p:sp>
        <p:nvSpPr>
          <p:cNvPr id="9" name="Text 6"/>
          <p:cNvSpPr txBox="1"/>
          <p:nvPr/>
        </p:nvSpPr>
        <p:spPr>
          <a:xfrm>
            <a:off x="4270248"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Project overview</a:t>
            </a:r>
            <a:endParaRPr lang="en-US" sz="1200" dirty="0"/>
          </a:p>
        </p:txBody>
      </p:sp>
      <p:sp>
        <p:nvSpPr>
          <p:cNvPr id="10" name="Shape 7"/>
          <p:cNvSpPr/>
          <p:nvPr/>
        </p:nvSpPr>
        <p:spPr>
          <a:xfrm>
            <a:off x="8083296" y="8421624"/>
            <a:ext cx="3200400" cy="0"/>
          </a:xfrm>
          <a:prstGeom prst="line">
            <a:avLst/>
          </a:prstGeom>
          <a:noFill/>
          <a:ln w="9525">
            <a:solidFill>
              <a:srgbClr val="CFCAC4"/>
            </a:solidFill>
            <a:prstDash val="solid"/>
          </a:ln>
        </p:spPr>
        <p:txBody>
          <a:bodyPr/>
          <a:lstStyle/>
          <a:p>
            <a:endParaRPr lang="en-US"/>
          </a:p>
        </p:txBody>
      </p:sp>
      <p:sp>
        <p:nvSpPr>
          <p:cNvPr id="11" name="Text 8"/>
          <p:cNvSpPr txBox="1"/>
          <p:nvPr/>
        </p:nvSpPr>
        <p:spPr>
          <a:xfrm>
            <a:off x="8083296"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October 2026</a:t>
            </a:r>
            <a:endParaRPr lang="en-US" sz="1200" dirty="0"/>
          </a:p>
        </p:txBody>
      </p:sp>
      <p:sp>
        <p:nvSpPr>
          <p:cNvPr id="12" name="Shape 9"/>
          <p:cNvSpPr/>
          <p:nvPr/>
        </p:nvSpPr>
        <p:spPr>
          <a:xfrm>
            <a:off x="11896344" y="8421624"/>
            <a:ext cx="3200400" cy="0"/>
          </a:xfrm>
          <a:prstGeom prst="line">
            <a:avLst/>
          </a:prstGeom>
          <a:noFill/>
          <a:ln w="9525">
            <a:solidFill>
              <a:srgbClr val="CFCAC4"/>
            </a:solidFill>
            <a:prstDash val="solid"/>
          </a:ln>
        </p:spPr>
        <p:txBody>
          <a:bodyPr/>
          <a:lstStyle/>
          <a:p>
            <a:endParaRPr lang="en-US"/>
          </a:p>
        </p:txBody>
      </p:sp>
      <p:sp>
        <p:nvSpPr>
          <p:cNvPr id="13" name="Text 10"/>
          <p:cNvSpPr txBox="1"/>
          <p:nvPr/>
        </p:nvSpPr>
        <p:spPr>
          <a:xfrm>
            <a:off x="11896344"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7 slides</a:t>
            </a:r>
            <a:endParaRPr lang="en-US" sz="1200" dirty="0"/>
          </a:p>
        </p:txBody>
      </p:sp>
      <p:sp>
        <p:nvSpPr>
          <p:cNvPr id="17" name="Shape 14"/>
          <p:cNvSpPr/>
          <p:nvPr/>
        </p:nvSpPr>
        <p:spPr>
          <a:xfrm>
            <a:off x="13395960" y="9528048"/>
            <a:ext cx="182880" cy="182880"/>
          </a:xfrm>
          <a:prstGeom prst="ellipse">
            <a:avLst/>
          </a:prstGeom>
          <a:solidFill>
            <a:srgbClr val="761DDB">
              <a:alpha val="22000"/>
            </a:srgbClr>
          </a:solidFill>
          <a:ln/>
        </p:spPr>
        <p:txBody>
          <a:bodyPr/>
          <a:lstStyle/>
          <a:p>
            <a:endParaRPr lang="en-US"/>
          </a:p>
        </p:txBody>
      </p:sp>
      <p:sp>
        <p:nvSpPr>
          <p:cNvPr id="18" name="Shape 15"/>
          <p:cNvSpPr/>
          <p:nvPr/>
        </p:nvSpPr>
        <p:spPr>
          <a:xfrm>
            <a:off x="13651992" y="9528048"/>
            <a:ext cx="182880" cy="182880"/>
          </a:xfrm>
          <a:prstGeom prst="ellipse">
            <a:avLst/>
          </a:prstGeom>
          <a:solidFill>
            <a:srgbClr val="761DDB"/>
          </a:solidFill>
          <a:ln/>
        </p:spPr>
        <p:txBody>
          <a:bodyPr/>
          <a:lstStyle/>
          <a:p>
            <a:endParaRPr lang="en-US"/>
          </a:p>
        </p:txBody>
      </p:sp>
      <p:sp>
        <p:nvSpPr>
          <p:cNvPr id="19" name="Shape 16"/>
          <p:cNvSpPr/>
          <p:nvPr/>
        </p:nvSpPr>
        <p:spPr>
          <a:xfrm>
            <a:off x="13908024" y="9528048"/>
            <a:ext cx="182880" cy="182880"/>
          </a:xfrm>
          <a:prstGeom prst="ellipse">
            <a:avLst/>
          </a:prstGeom>
          <a:solidFill>
            <a:srgbClr val="761DDB">
              <a:alpha val="22000"/>
            </a:srgbClr>
          </a:solidFill>
          <a:ln/>
        </p:spPr>
        <p:txBody>
          <a:bodyPr/>
          <a:lstStyle/>
          <a:p>
            <a:endParaRPr lang="en-US"/>
          </a:p>
        </p:txBody>
      </p:sp>
      <p:sp>
        <p:nvSpPr>
          <p:cNvPr id="20" name="Shape 17"/>
          <p:cNvSpPr/>
          <p:nvPr/>
        </p:nvSpPr>
        <p:spPr>
          <a:xfrm>
            <a:off x="14164056" y="9528048"/>
            <a:ext cx="182880" cy="182880"/>
          </a:xfrm>
          <a:prstGeom prst="ellipse">
            <a:avLst/>
          </a:prstGeom>
          <a:solidFill>
            <a:srgbClr val="761DDB">
              <a:alpha val="22000"/>
            </a:srgbClr>
          </a:solidFill>
          <a:ln/>
        </p:spPr>
        <p:txBody>
          <a:bodyPr/>
          <a:lstStyle/>
          <a:p>
            <a:endParaRPr lang="en-US"/>
          </a:p>
        </p:txBody>
      </p:sp>
      <p:sp>
        <p:nvSpPr>
          <p:cNvPr id="21" name="Shape 18"/>
          <p:cNvSpPr/>
          <p:nvPr/>
        </p:nvSpPr>
        <p:spPr>
          <a:xfrm>
            <a:off x="14420088" y="9528048"/>
            <a:ext cx="182880" cy="182880"/>
          </a:xfrm>
          <a:prstGeom prst="ellipse">
            <a:avLst/>
          </a:prstGeom>
          <a:solidFill>
            <a:srgbClr val="761DDB">
              <a:alpha val="22000"/>
            </a:srgbClr>
          </a:solidFill>
          <a:ln/>
        </p:spPr>
        <p:txBody>
          <a:bodyPr/>
          <a:lstStyle/>
          <a:p>
            <a:endParaRPr lang="en-US"/>
          </a:p>
        </p:txBody>
      </p:sp>
      <p:sp>
        <p:nvSpPr>
          <p:cNvPr id="22" name="Shape 19"/>
          <p:cNvSpPr/>
          <p:nvPr/>
        </p:nvSpPr>
        <p:spPr>
          <a:xfrm>
            <a:off x="14676120" y="9528048"/>
            <a:ext cx="182880" cy="182880"/>
          </a:xfrm>
          <a:prstGeom prst="ellipse">
            <a:avLst/>
          </a:prstGeom>
          <a:solidFill>
            <a:srgbClr val="761DDB">
              <a:alpha val="22000"/>
            </a:srgbClr>
          </a:solidFill>
          <a:ln/>
        </p:spPr>
        <p:txBody>
          <a:bodyPr/>
          <a:lstStyle/>
          <a:p>
            <a:endParaRPr lang="en-US"/>
          </a:p>
        </p:txBody>
      </p:sp>
      <p:sp>
        <p:nvSpPr>
          <p:cNvPr id="23" name="Shape 20"/>
          <p:cNvSpPr/>
          <p:nvPr/>
        </p:nvSpPr>
        <p:spPr>
          <a:xfrm>
            <a:off x="14932152" y="9528048"/>
            <a:ext cx="182880" cy="182880"/>
          </a:xfrm>
          <a:prstGeom prst="ellipse">
            <a:avLst/>
          </a:prstGeom>
          <a:solidFill>
            <a:srgbClr val="761DDB">
              <a:alpha val="22000"/>
            </a:srgbClr>
          </a:solidFill>
          <a:ln/>
        </p:spPr>
        <p:txBody>
          <a:bodyPr/>
          <a:lstStyle/>
          <a:p>
            <a:endParaRPr lang="en-US"/>
          </a:p>
        </p:txBody>
      </p:sp>
      <p:sp>
        <p:nvSpPr>
          <p:cNvPr id="24" name="Shape 21"/>
          <p:cNvSpPr/>
          <p:nvPr/>
        </p:nvSpPr>
        <p:spPr>
          <a:xfrm>
            <a:off x="457200" y="2788920"/>
            <a:ext cx="8503920" cy="1600200"/>
          </a:xfrm>
          <a:prstGeom prst="rect">
            <a:avLst/>
          </a:prstGeom>
          <a:solidFill>
            <a:srgbClr val="FFFFFF"/>
          </a:solidFill>
          <a:ln w="12700">
            <a:solidFill>
              <a:srgbClr val="CFCAC4"/>
            </a:solidFill>
            <a:prstDash val="solid"/>
          </a:ln>
        </p:spPr>
        <p:txBody>
          <a:bodyPr/>
          <a:lstStyle/>
          <a:p>
            <a:endParaRPr lang="en-US"/>
          </a:p>
        </p:txBody>
      </p:sp>
      <p:sp>
        <p:nvSpPr>
          <p:cNvPr id="25" name="Text 22"/>
          <p:cNvSpPr txBox="1"/>
          <p:nvPr/>
        </p:nvSpPr>
        <p:spPr>
          <a:xfrm>
            <a:off x="777240" y="3035808"/>
            <a:ext cx="7955280" cy="365760"/>
          </a:xfrm>
          <a:prstGeom prst="rect">
            <a:avLst/>
          </a:prstGeom>
          <a:noFill/>
          <a:ln/>
        </p:spPr>
        <p:txBody>
          <a:bodyPr wrap="square" lIns="0" tIns="0" rIns="0" bIns="0" rtlCol="0" anchor="t"/>
          <a:lstStyle/>
          <a:p>
            <a:pPr marL="0" indent="0">
              <a:buNone/>
            </a:pPr>
            <a:r>
              <a:rPr lang="en-US" sz="1500" dirty="0">
                <a:solidFill>
                  <a:srgbClr val="1C1C1E"/>
                </a:solidFill>
                <a:latin typeface="Courier New" pitchFamily="34" charset="0"/>
                <a:ea typeface="Courier New" pitchFamily="34" charset="-122"/>
                <a:cs typeface="Courier New" pitchFamily="34" charset="-120"/>
              </a:rPr>
              <a:t>Option A: receive $86 for certain.</a:t>
            </a:r>
            <a:endParaRPr lang="en-US" sz="1500" dirty="0"/>
          </a:p>
        </p:txBody>
      </p:sp>
      <p:sp>
        <p:nvSpPr>
          <p:cNvPr id="26" name="Text 23"/>
          <p:cNvSpPr txBox="1"/>
          <p:nvPr/>
        </p:nvSpPr>
        <p:spPr>
          <a:xfrm>
            <a:off x="777240" y="3520440"/>
            <a:ext cx="7955280" cy="457200"/>
          </a:xfrm>
          <a:prstGeom prst="rect">
            <a:avLst/>
          </a:prstGeom>
          <a:noFill/>
          <a:ln/>
        </p:spPr>
        <p:txBody>
          <a:bodyPr wrap="square" lIns="0" tIns="0" rIns="0" bIns="0" rtlCol="0" anchor="t"/>
          <a:lstStyle/>
          <a:p>
            <a:pPr marL="0" indent="0">
              <a:buNone/>
            </a:pPr>
            <a:r>
              <a:rPr lang="en-US" sz="1500" dirty="0">
                <a:solidFill>
                  <a:srgbClr val="1C1C1E"/>
                </a:solidFill>
                <a:latin typeface="Courier New" pitchFamily="34" charset="0"/>
                <a:ea typeface="Courier New" pitchFamily="34" charset="-122"/>
                <a:cs typeface="Courier New" pitchFamily="34" charset="-120"/>
              </a:rPr>
              <a:t>Option B: receive $210 with 43% probability, otherwise $0.</a:t>
            </a:r>
            <a:endParaRPr lang="en-US" sz="1500" dirty="0"/>
          </a:p>
        </p:txBody>
      </p:sp>
      <p:sp>
        <p:nvSpPr>
          <p:cNvPr id="27" name="Text 24"/>
          <p:cNvSpPr txBox="1"/>
          <p:nvPr/>
        </p:nvSpPr>
        <p:spPr>
          <a:xfrm>
            <a:off x="457200" y="4800600"/>
            <a:ext cx="8503920" cy="914400"/>
          </a:xfrm>
          <a:prstGeom prst="rect">
            <a:avLst/>
          </a:prstGeom>
          <a:noFill/>
          <a:ln/>
        </p:spPr>
        <p:txBody>
          <a:bodyPr wrap="square" lIns="0" tIns="0" rIns="0" bIns="0" rtlCol="0" anchor="t"/>
          <a:lstStyle/>
          <a:p>
            <a:pPr marL="0" indent="0">
              <a:lnSpc>
                <a:spcPct val="140000"/>
              </a:lnSpc>
              <a:buNone/>
            </a:pPr>
            <a:r>
              <a:rPr lang="en-US" sz="1600" dirty="0">
                <a:solidFill>
                  <a:srgbClr val="1C1C1E"/>
                </a:solidFill>
                <a:latin typeface="Helvetica Neue" pitchFamily="34" charset="0"/>
                <a:ea typeface="Helvetica Neue" pitchFamily="34" charset="-122"/>
                <a:cs typeface="Helvetica Neue" pitchFamily="34" charset="-120"/>
              </a:rPr>
              <a:t>We read each answer straight out of the model's internal probabilities. Since September, the models may also reason in writing before they answer.</a:t>
            </a:r>
            <a:endParaRPr lang="en-US" sz="1600" dirty="0"/>
          </a:p>
        </p:txBody>
      </p:sp>
      <p:sp>
        <p:nvSpPr>
          <p:cNvPr id="28" name="Text 25"/>
          <p:cNvSpPr txBox="1"/>
          <p:nvPr/>
        </p:nvSpPr>
        <p:spPr>
          <a:xfrm>
            <a:off x="457200" y="6080760"/>
            <a:ext cx="8503920" cy="914400"/>
          </a:xfrm>
          <a:prstGeom prst="rect">
            <a:avLst/>
          </a:prstGeom>
          <a:noFill/>
          <a:ln/>
        </p:spPr>
        <p:txBody>
          <a:bodyPr wrap="square" lIns="0" tIns="0" rIns="0" bIns="0" rtlCol="0" anchor="t"/>
          <a:lstStyle/>
          <a:p>
            <a:pPr marL="0" indent="0">
              <a:lnSpc>
                <a:spcPct val="140000"/>
              </a:lnSpc>
              <a:buNone/>
            </a:pPr>
            <a:r>
              <a:rPr lang="en-US" sz="1600" dirty="0">
                <a:solidFill>
                  <a:srgbClr val="1C1C1E"/>
                </a:solidFill>
                <a:latin typeface="Helvetica Neue" pitchFamily="34" charset="0"/>
                <a:ea typeface="Helvetica Neue" pitchFamily="34" charset="-122"/>
                <a:cs typeface="Helvetica Neue" pitchFamily="34" charset="-120"/>
              </a:rPr>
              <a:t>Eighty of the questions are free money: a sure $50 against a sure $70. Any subject who is paying attention takes the $70 every time.</a:t>
            </a:r>
            <a:endParaRPr lang="en-US" sz="1600" dirty="0"/>
          </a:p>
        </p:txBody>
      </p:sp>
      <p:sp>
        <p:nvSpPr>
          <p:cNvPr id="29" name="Shape 26"/>
          <p:cNvSpPr/>
          <p:nvPr/>
        </p:nvSpPr>
        <p:spPr>
          <a:xfrm>
            <a:off x="9784080" y="2788920"/>
            <a:ext cx="2514600" cy="0"/>
          </a:xfrm>
          <a:prstGeom prst="line">
            <a:avLst/>
          </a:prstGeom>
          <a:noFill/>
          <a:ln w="12700">
            <a:solidFill>
              <a:srgbClr val="761DDB"/>
            </a:solidFill>
            <a:prstDash val="solid"/>
          </a:ln>
        </p:spPr>
        <p:txBody>
          <a:bodyPr/>
          <a:lstStyle/>
          <a:p>
            <a:endParaRPr lang="en-US"/>
          </a:p>
        </p:txBody>
      </p:sp>
      <p:sp>
        <p:nvSpPr>
          <p:cNvPr id="30" name="Text 27"/>
          <p:cNvSpPr txBox="1"/>
          <p:nvPr/>
        </p:nvSpPr>
        <p:spPr>
          <a:xfrm>
            <a:off x="9784080" y="2990088"/>
            <a:ext cx="2514600" cy="960120"/>
          </a:xfrm>
          <a:prstGeom prst="rect">
            <a:avLst/>
          </a:prstGeom>
          <a:noFill/>
          <a:ln/>
        </p:spPr>
        <p:txBody>
          <a:bodyPr wrap="square" lIns="0" tIns="0" rIns="0" bIns="0" rtlCol="0" anchor="t"/>
          <a:lstStyle/>
          <a:p>
            <a:pPr marL="0" indent="0">
              <a:buNone/>
            </a:pPr>
            <a:r>
              <a:rPr lang="en-US" sz="4400" dirty="0">
                <a:solidFill>
                  <a:srgbClr val="761DDB"/>
                </a:solidFill>
                <a:latin typeface="Georgia" pitchFamily="34" charset="0"/>
                <a:ea typeface="Georgia" pitchFamily="34" charset="-122"/>
                <a:cs typeface="Georgia" pitchFamily="34" charset="-120"/>
              </a:rPr>
              <a:t>1,680</a:t>
            </a:r>
            <a:endParaRPr lang="en-US" sz="4400" dirty="0"/>
          </a:p>
        </p:txBody>
      </p:sp>
      <p:sp>
        <p:nvSpPr>
          <p:cNvPr id="31" name="Text 28"/>
          <p:cNvSpPr txBox="1"/>
          <p:nvPr/>
        </p:nvSpPr>
        <p:spPr>
          <a:xfrm>
            <a:off x="9784080" y="4087368"/>
            <a:ext cx="2514600" cy="731520"/>
          </a:xfrm>
          <a:prstGeom prst="rect">
            <a:avLst/>
          </a:prstGeom>
          <a:noFill/>
          <a:ln/>
        </p:spPr>
        <p:txBody>
          <a:bodyPr wrap="square" lIns="0" tIns="0" rIns="0" bIns="0" rtlCol="0" anchor="t"/>
          <a:lstStyle/>
          <a:p>
            <a:pPr marL="0" indent="0">
              <a:lnSpc>
                <a:spcPct val="130000"/>
              </a:lnSpc>
              <a:buNone/>
            </a:pPr>
            <a:r>
              <a:rPr lang="en-US" sz="1400" dirty="0">
                <a:solidFill>
                  <a:srgbClr val="6E6862"/>
                </a:solidFill>
                <a:latin typeface="Helvetica Neue" pitchFamily="34" charset="0"/>
                <a:ea typeface="Helvetica Neue" pitchFamily="34" charset="-122"/>
                <a:cs typeface="Helvetica Neue" pitchFamily="34" charset="-120"/>
              </a:rPr>
              <a:t>questions per model run</a:t>
            </a:r>
            <a:endParaRPr lang="en-US" sz="1400" dirty="0"/>
          </a:p>
        </p:txBody>
      </p:sp>
      <p:sp>
        <p:nvSpPr>
          <p:cNvPr id="32" name="Shape 29"/>
          <p:cNvSpPr/>
          <p:nvPr/>
        </p:nvSpPr>
        <p:spPr>
          <a:xfrm>
            <a:off x="12710160" y="2788920"/>
            <a:ext cx="2514600" cy="0"/>
          </a:xfrm>
          <a:prstGeom prst="line">
            <a:avLst/>
          </a:prstGeom>
          <a:noFill/>
          <a:ln w="12700">
            <a:solidFill>
              <a:srgbClr val="761DDB"/>
            </a:solidFill>
            <a:prstDash val="solid"/>
          </a:ln>
        </p:spPr>
        <p:txBody>
          <a:bodyPr/>
          <a:lstStyle/>
          <a:p>
            <a:endParaRPr lang="en-US"/>
          </a:p>
        </p:txBody>
      </p:sp>
      <p:sp>
        <p:nvSpPr>
          <p:cNvPr id="33" name="Text 30"/>
          <p:cNvSpPr txBox="1"/>
          <p:nvPr/>
        </p:nvSpPr>
        <p:spPr>
          <a:xfrm>
            <a:off x="12710160" y="2990088"/>
            <a:ext cx="2514600" cy="960120"/>
          </a:xfrm>
          <a:prstGeom prst="rect">
            <a:avLst/>
          </a:prstGeom>
          <a:noFill/>
          <a:ln/>
        </p:spPr>
        <p:txBody>
          <a:bodyPr wrap="square" lIns="0" tIns="0" rIns="0" bIns="0" rtlCol="0" anchor="t"/>
          <a:lstStyle/>
          <a:p>
            <a:pPr marL="0" indent="0">
              <a:buNone/>
            </a:pPr>
            <a:r>
              <a:rPr lang="en-US" sz="4400" dirty="0">
                <a:solidFill>
                  <a:srgbClr val="761DDB"/>
                </a:solidFill>
                <a:latin typeface="Georgia" pitchFamily="34" charset="0"/>
                <a:ea typeface="Georgia" pitchFamily="34" charset="-122"/>
                <a:cs typeface="Georgia" pitchFamily="34" charset="-120"/>
              </a:rPr>
              <a:t>9</a:t>
            </a:r>
            <a:endParaRPr lang="en-US" sz="4400" dirty="0"/>
          </a:p>
        </p:txBody>
      </p:sp>
      <p:sp>
        <p:nvSpPr>
          <p:cNvPr id="34" name="Text 31"/>
          <p:cNvSpPr txBox="1"/>
          <p:nvPr/>
        </p:nvSpPr>
        <p:spPr>
          <a:xfrm>
            <a:off x="12710160" y="4087368"/>
            <a:ext cx="2514600" cy="731520"/>
          </a:xfrm>
          <a:prstGeom prst="rect">
            <a:avLst/>
          </a:prstGeom>
          <a:noFill/>
          <a:ln/>
        </p:spPr>
        <p:txBody>
          <a:bodyPr wrap="square" lIns="0" tIns="0" rIns="0" bIns="0" rtlCol="0" anchor="t"/>
          <a:lstStyle/>
          <a:p>
            <a:pPr marL="0" indent="0">
              <a:lnSpc>
                <a:spcPct val="130000"/>
              </a:lnSpc>
              <a:buNone/>
            </a:pPr>
            <a:r>
              <a:rPr lang="en-US" sz="1400" dirty="0">
                <a:solidFill>
                  <a:srgbClr val="6E6862"/>
                </a:solidFill>
                <a:latin typeface="Helvetica Neue" pitchFamily="34" charset="0"/>
                <a:ea typeface="Helvetica Neue" pitchFamily="34" charset="-122"/>
                <a:cs typeface="Helvetica Neue" pitchFamily="34" charset="-120"/>
              </a:rPr>
              <a:t>models</a:t>
            </a:r>
            <a:endParaRPr lang="en-US" sz="1400" dirty="0"/>
          </a:p>
        </p:txBody>
      </p:sp>
      <p:sp>
        <p:nvSpPr>
          <p:cNvPr id="35" name="Shape 32"/>
          <p:cNvSpPr/>
          <p:nvPr/>
        </p:nvSpPr>
        <p:spPr>
          <a:xfrm>
            <a:off x="9784080" y="5257800"/>
            <a:ext cx="2514600" cy="0"/>
          </a:xfrm>
          <a:prstGeom prst="line">
            <a:avLst/>
          </a:prstGeom>
          <a:noFill/>
          <a:ln w="12700">
            <a:solidFill>
              <a:srgbClr val="761DDB"/>
            </a:solidFill>
            <a:prstDash val="solid"/>
          </a:ln>
        </p:spPr>
        <p:txBody>
          <a:bodyPr/>
          <a:lstStyle/>
          <a:p>
            <a:endParaRPr lang="en-US"/>
          </a:p>
        </p:txBody>
      </p:sp>
      <p:sp>
        <p:nvSpPr>
          <p:cNvPr id="36" name="Text 33"/>
          <p:cNvSpPr txBox="1"/>
          <p:nvPr/>
        </p:nvSpPr>
        <p:spPr>
          <a:xfrm>
            <a:off x="9784080" y="5458968"/>
            <a:ext cx="2514600" cy="960120"/>
          </a:xfrm>
          <a:prstGeom prst="rect">
            <a:avLst/>
          </a:prstGeom>
          <a:noFill/>
          <a:ln/>
        </p:spPr>
        <p:txBody>
          <a:bodyPr wrap="square" lIns="0" tIns="0" rIns="0" bIns="0" rtlCol="0" anchor="t"/>
          <a:lstStyle/>
          <a:p>
            <a:pPr marL="0" indent="0">
              <a:buNone/>
            </a:pPr>
            <a:r>
              <a:rPr lang="en-US" sz="4400" dirty="0">
                <a:solidFill>
                  <a:srgbClr val="761DDB"/>
                </a:solidFill>
                <a:latin typeface="Georgia" pitchFamily="34" charset="0"/>
                <a:ea typeface="Georgia" pitchFamily="34" charset="-122"/>
                <a:cs typeface="Georgia" pitchFamily="34" charset="-120"/>
              </a:rPr>
              <a:t>4</a:t>
            </a:r>
            <a:endParaRPr lang="en-US" sz="4400" dirty="0"/>
          </a:p>
        </p:txBody>
      </p:sp>
      <p:sp>
        <p:nvSpPr>
          <p:cNvPr id="37" name="Text 34"/>
          <p:cNvSpPr txBox="1"/>
          <p:nvPr/>
        </p:nvSpPr>
        <p:spPr>
          <a:xfrm>
            <a:off x="9784080" y="6556248"/>
            <a:ext cx="2514600" cy="731520"/>
          </a:xfrm>
          <a:prstGeom prst="rect">
            <a:avLst/>
          </a:prstGeom>
          <a:noFill/>
          <a:ln/>
        </p:spPr>
        <p:txBody>
          <a:bodyPr wrap="square" lIns="0" tIns="0" rIns="0" bIns="0" rtlCol="0" anchor="t"/>
          <a:lstStyle/>
          <a:p>
            <a:pPr marL="0" indent="0">
              <a:lnSpc>
                <a:spcPct val="130000"/>
              </a:lnSpc>
              <a:buNone/>
            </a:pPr>
            <a:r>
              <a:rPr lang="en-US" sz="1400" dirty="0">
                <a:solidFill>
                  <a:srgbClr val="6E6862"/>
                </a:solidFill>
                <a:latin typeface="Helvetica Neue" pitchFamily="34" charset="0"/>
                <a:ea typeface="Helvetica Neue" pitchFamily="34" charset="-122"/>
                <a:cs typeface="Helvetica Neue" pitchFamily="34" charset="-120"/>
              </a:rPr>
              <a:t>model families</a:t>
            </a:r>
            <a:endParaRPr lang="en-US" sz="1400" dirty="0"/>
          </a:p>
        </p:txBody>
      </p:sp>
      <p:sp>
        <p:nvSpPr>
          <p:cNvPr id="38" name="Shape 35"/>
          <p:cNvSpPr/>
          <p:nvPr/>
        </p:nvSpPr>
        <p:spPr>
          <a:xfrm>
            <a:off x="12710160" y="5257800"/>
            <a:ext cx="2514600" cy="0"/>
          </a:xfrm>
          <a:prstGeom prst="line">
            <a:avLst/>
          </a:prstGeom>
          <a:noFill/>
          <a:ln w="12700">
            <a:solidFill>
              <a:srgbClr val="761DDB"/>
            </a:solidFill>
            <a:prstDash val="solid"/>
          </a:ln>
        </p:spPr>
        <p:txBody>
          <a:bodyPr/>
          <a:lstStyle/>
          <a:p>
            <a:endParaRPr lang="en-US"/>
          </a:p>
        </p:txBody>
      </p:sp>
      <p:sp>
        <p:nvSpPr>
          <p:cNvPr id="39" name="Text 36"/>
          <p:cNvSpPr txBox="1"/>
          <p:nvPr/>
        </p:nvSpPr>
        <p:spPr>
          <a:xfrm>
            <a:off x="12710160" y="5458968"/>
            <a:ext cx="2514600" cy="960120"/>
          </a:xfrm>
          <a:prstGeom prst="rect">
            <a:avLst/>
          </a:prstGeom>
          <a:noFill/>
          <a:ln/>
        </p:spPr>
        <p:txBody>
          <a:bodyPr wrap="square" lIns="0" tIns="0" rIns="0" bIns="0" rtlCol="0" anchor="t"/>
          <a:lstStyle/>
          <a:p>
            <a:pPr marL="0" indent="0">
              <a:buNone/>
            </a:pPr>
            <a:r>
              <a:rPr lang="en-US" sz="4400" dirty="0">
                <a:solidFill>
                  <a:srgbClr val="761DDB"/>
                </a:solidFill>
                <a:latin typeface="Georgia" pitchFamily="34" charset="0"/>
                <a:ea typeface="Georgia" pitchFamily="34" charset="-122"/>
                <a:cs typeface="Georgia" pitchFamily="34" charset="-120"/>
              </a:rPr>
              <a:t>42,505</a:t>
            </a:r>
            <a:endParaRPr lang="en-US" sz="4400" dirty="0"/>
          </a:p>
        </p:txBody>
      </p:sp>
      <p:sp>
        <p:nvSpPr>
          <p:cNvPr id="40" name="Text 37"/>
          <p:cNvSpPr txBox="1"/>
          <p:nvPr/>
        </p:nvSpPr>
        <p:spPr>
          <a:xfrm>
            <a:off x="12710160" y="6556248"/>
            <a:ext cx="2514600" cy="731520"/>
          </a:xfrm>
          <a:prstGeom prst="rect">
            <a:avLst/>
          </a:prstGeom>
          <a:noFill/>
          <a:ln/>
        </p:spPr>
        <p:txBody>
          <a:bodyPr wrap="square" lIns="0" tIns="0" rIns="0" bIns="0" rtlCol="0" anchor="t"/>
          <a:lstStyle/>
          <a:p>
            <a:pPr marL="0" indent="0">
              <a:lnSpc>
                <a:spcPct val="130000"/>
              </a:lnSpc>
              <a:buNone/>
            </a:pPr>
            <a:r>
              <a:rPr lang="en-US" sz="1400" dirty="0">
                <a:solidFill>
                  <a:srgbClr val="6E6862"/>
                </a:solidFill>
                <a:latin typeface="Helvetica Neue" pitchFamily="34" charset="0"/>
                <a:ea typeface="Helvetica Neue" pitchFamily="34" charset="-122"/>
                <a:cs typeface="Helvetica Neue" pitchFamily="34" charset="-120"/>
              </a:rPr>
              <a:t>answers recorded</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457200" y="685800"/>
            <a:ext cx="14630400" cy="0"/>
          </a:xfrm>
          <a:prstGeom prst="line">
            <a:avLst/>
          </a:prstGeom>
          <a:noFill/>
          <a:ln w="6350">
            <a:solidFill>
              <a:srgbClr val="761DDB"/>
            </a:solidFill>
            <a:prstDash val="solid"/>
          </a:ln>
        </p:spPr>
        <p:txBody>
          <a:bodyPr/>
          <a:lstStyle/>
          <a:p>
            <a:endParaRPr lang="en-US"/>
          </a:p>
        </p:txBody>
      </p:sp>
      <p:pic>
        <p:nvPicPr>
          <p:cNvPr id="3" name="Image 0" descr="/private/tmp/claude-501/-Users-johnpb89-Desktop/751e14e8-de1e-42cb-8bce-61bc0e103cc2/scratchpad/rand/rand_logo.png"/>
          <p:cNvPicPr>
            <a:picLocks noChangeAspect="1"/>
          </p:cNvPicPr>
          <p:nvPr/>
        </p:nvPicPr>
        <p:blipFill>
          <a:blip r:embed="rId3"/>
          <a:stretch>
            <a:fillRect/>
          </a:stretch>
        </p:blipFill>
        <p:spPr>
          <a:xfrm>
            <a:off x="14621256" y="164592"/>
            <a:ext cx="457200" cy="457200"/>
          </a:xfrm>
          <a:prstGeom prst="rect">
            <a:avLst/>
          </a:prstGeom>
        </p:spPr>
      </p:pic>
      <p:sp>
        <p:nvSpPr>
          <p:cNvPr id="4" name="Text 1"/>
          <p:cNvSpPr txBox="1"/>
          <p:nvPr/>
        </p:nvSpPr>
        <p:spPr>
          <a:xfrm>
            <a:off x="457200" y="896112"/>
            <a:ext cx="13807440" cy="822960"/>
          </a:xfrm>
          <a:prstGeom prst="rect">
            <a:avLst/>
          </a:prstGeom>
          <a:noFill/>
          <a:ln/>
        </p:spPr>
        <p:txBody>
          <a:bodyPr wrap="square" lIns="0" tIns="0" rIns="0" bIns="0" rtlCol="0" anchor="t"/>
          <a:lstStyle/>
          <a:p>
            <a:pPr marL="0" indent="0">
              <a:buNone/>
            </a:pPr>
            <a:r>
              <a:rPr lang="en-US" sz="4000" dirty="0">
                <a:solidFill>
                  <a:srgbClr val="1C1C1E"/>
                </a:solidFill>
                <a:latin typeface="Georgia" pitchFamily="34" charset="0"/>
                <a:ea typeface="Georgia" pitchFamily="34" charset="-122"/>
                <a:cs typeface="Georgia" pitchFamily="34" charset="-120"/>
              </a:rPr>
              <a:t>When does an AI learn to care about money?</a:t>
            </a:r>
            <a:endParaRPr lang="en-US" sz="4000" dirty="0"/>
          </a:p>
        </p:txBody>
      </p:sp>
      <p:sp>
        <p:nvSpPr>
          <p:cNvPr id="5" name="Text 2"/>
          <p:cNvSpPr txBox="1"/>
          <p:nvPr/>
        </p:nvSpPr>
        <p:spPr>
          <a:xfrm>
            <a:off x="457200" y="1810512"/>
            <a:ext cx="13807440" cy="566928"/>
          </a:xfrm>
          <a:prstGeom prst="rect">
            <a:avLst/>
          </a:prstGeom>
          <a:noFill/>
          <a:ln/>
        </p:spPr>
        <p:txBody>
          <a:bodyPr wrap="square" lIns="0" tIns="0" rIns="0" bIns="0" rtlCol="0" anchor="t"/>
          <a:lstStyle/>
          <a:p>
            <a:pPr marL="0" indent="0">
              <a:lnSpc>
                <a:spcPct val="125000"/>
              </a:lnSpc>
              <a:buNone/>
            </a:pPr>
            <a:r>
              <a:rPr lang="en-US" sz="2000" dirty="0">
                <a:solidFill>
                  <a:srgbClr val="6E6862"/>
                </a:solidFill>
                <a:latin typeface="Helvetica Neue" pitchFamily="34" charset="0"/>
                <a:ea typeface="Helvetica Neue" pitchFamily="34" charset="-122"/>
                <a:cs typeface="Helvetica Neue" pitchFamily="34" charset="-120"/>
              </a:rPr>
              <a:t>Mostly at supervised fine-tuning, the first and simplest of the assistant-training steps.</a:t>
            </a:r>
            <a:endParaRPr lang="en-US" sz="2000" dirty="0"/>
          </a:p>
        </p:txBody>
      </p:sp>
      <p:sp>
        <p:nvSpPr>
          <p:cNvPr id="6" name="Shape 3"/>
          <p:cNvSpPr/>
          <p:nvPr/>
        </p:nvSpPr>
        <p:spPr>
          <a:xfrm>
            <a:off x="457200" y="8421624"/>
            <a:ext cx="3200400" cy="0"/>
          </a:xfrm>
          <a:prstGeom prst="line">
            <a:avLst/>
          </a:prstGeom>
          <a:noFill/>
          <a:ln w="9525">
            <a:solidFill>
              <a:srgbClr val="CFCAC4"/>
            </a:solidFill>
            <a:prstDash val="solid"/>
          </a:ln>
        </p:spPr>
        <p:txBody>
          <a:bodyPr/>
          <a:lstStyle/>
          <a:p>
            <a:endParaRPr lang="en-US"/>
          </a:p>
        </p:txBody>
      </p:sp>
      <p:sp>
        <p:nvSpPr>
          <p:cNvPr id="7" name="Text 4"/>
          <p:cNvSpPr txBox="1"/>
          <p:nvPr/>
        </p:nvSpPr>
        <p:spPr>
          <a:xfrm>
            <a:off x="457200"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LLM revealed preferences</a:t>
            </a:r>
            <a:endParaRPr lang="en-US" sz="1200" dirty="0"/>
          </a:p>
        </p:txBody>
      </p:sp>
      <p:sp>
        <p:nvSpPr>
          <p:cNvPr id="8" name="Shape 5"/>
          <p:cNvSpPr/>
          <p:nvPr/>
        </p:nvSpPr>
        <p:spPr>
          <a:xfrm>
            <a:off x="4270248" y="8421624"/>
            <a:ext cx="3200400" cy="0"/>
          </a:xfrm>
          <a:prstGeom prst="line">
            <a:avLst/>
          </a:prstGeom>
          <a:noFill/>
          <a:ln w="9525">
            <a:solidFill>
              <a:srgbClr val="CFCAC4"/>
            </a:solidFill>
            <a:prstDash val="solid"/>
          </a:ln>
        </p:spPr>
        <p:txBody>
          <a:bodyPr/>
          <a:lstStyle/>
          <a:p>
            <a:endParaRPr lang="en-US"/>
          </a:p>
        </p:txBody>
      </p:sp>
      <p:sp>
        <p:nvSpPr>
          <p:cNvPr id="9" name="Text 6"/>
          <p:cNvSpPr txBox="1"/>
          <p:nvPr/>
        </p:nvSpPr>
        <p:spPr>
          <a:xfrm>
            <a:off x="4270248"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Project overview</a:t>
            </a:r>
            <a:endParaRPr lang="en-US" sz="1200" dirty="0"/>
          </a:p>
        </p:txBody>
      </p:sp>
      <p:sp>
        <p:nvSpPr>
          <p:cNvPr id="10" name="Shape 7"/>
          <p:cNvSpPr/>
          <p:nvPr/>
        </p:nvSpPr>
        <p:spPr>
          <a:xfrm>
            <a:off x="8083296" y="8421624"/>
            <a:ext cx="3200400" cy="0"/>
          </a:xfrm>
          <a:prstGeom prst="line">
            <a:avLst/>
          </a:prstGeom>
          <a:noFill/>
          <a:ln w="9525">
            <a:solidFill>
              <a:srgbClr val="CFCAC4"/>
            </a:solidFill>
            <a:prstDash val="solid"/>
          </a:ln>
        </p:spPr>
        <p:txBody>
          <a:bodyPr/>
          <a:lstStyle/>
          <a:p>
            <a:endParaRPr lang="en-US"/>
          </a:p>
        </p:txBody>
      </p:sp>
      <p:sp>
        <p:nvSpPr>
          <p:cNvPr id="11" name="Text 8"/>
          <p:cNvSpPr txBox="1"/>
          <p:nvPr/>
        </p:nvSpPr>
        <p:spPr>
          <a:xfrm>
            <a:off x="8083296"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October 2026</a:t>
            </a:r>
            <a:endParaRPr lang="en-US" sz="1200" dirty="0"/>
          </a:p>
        </p:txBody>
      </p:sp>
      <p:sp>
        <p:nvSpPr>
          <p:cNvPr id="12" name="Shape 9"/>
          <p:cNvSpPr/>
          <p:nvPr/>
        </p:nvSpPr>
        <p:spPr>
          <a:xfrm>
            <a:off x="11896344" y="8421624"/>
            <a:ext cx="3200400" cy="0"/>
          </a:xfrm>
          <a:prstGeom prst="line">
            <a:avLst/>
          </a:prstGeom>
          <a:noFill/>
          <a:ln w="9525">
            <a:solidFill>
              <a:srgbClr val="CFCAC4"/>
            </a:solidFill>
            <a:prstDash val="solid"/>
          </a:ln>
        </p:spPr>
        <p:txBody>
          <a:bodyPr/>
          <a:lstStyle/>
          <a:p>
            <a:endParaRPr lang="en-US"/>
          </a:p>
        </p:txBody>
      </p:sp>
      <p:sp>
        <p:nvSpPr>
          <p:cNvPr id="13" name="Text 10"/>
          <p:cNvSpPr txBox="1"/>
          <p:nvPr/>
        </p:nvSpPr>
        <p:spPr>
          <a:xfrm>
            <a:off x="11896344"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7 slides</a:t>
            </a:r>
            <a:endParaRPr lang="en-US" sz="1200" dirty="0"/>
          </a:p>
        </p:txBody>
      </p:sp>
      <p:sp>
        <p:nvSpPr>
          <p:cNvPr id="17" name="Shape 14"/>
          <p:cNvSpPr/>
          <p:nvPr/>
        </p:nvSpPr>
        <p:spPr>
          <a:xfrm>
            <a:off x="13395960" y="9528048"/>
            <a:ext cx="182880" cy="182880"/>
          </a:xfrm>
          <a:prstGeom prst="ellipse">
            <a:avLst/>
          </a:prstGeom>
          <a:solidFill>
            <a:srgbClr val="761DDB">
              <a:alpha val="22000"/>
            </a:srgbClr>
          </a:solidFill>
          <a:ln/>
        </p:spPr>
        <p:txBody>
          <a:bodyPr/>
          <a:lstStyle/>
          <a:p>
            <a:endParaRPr lang="en-US"/>
          </a:p>
        </p:txBody>
      </p:sp>
      <p:sp>
        <p:nvSpPr>
          <p:cNvPr id="18" name="Shape 15"/>
          <p:cNvSpPr/>
          <p:nvPr/>
        </p:nvSpPr>
        <p:spPr>
          <a:xfrm>
            <a:off x="13651992" y="9528048"/>
            <a:ext cx="182880" cy="182880"/>
          </a:xfrm>
          <a:prstGeom prst="ellipse">
            <a:avLst/>
          </a:prstGeom>
          <a:solidFill>
            <a:srgbClr val="761DDB">
              <a:alpha val="22000"/>
            </a:srgbClr>
          </a:solidFill>
          <a:ln/>
        </p:spPr>
        <p:txBody>
          <a:bodyPr/>
          <a:lstStyle/>
          <a:p>
            <a:endParaRPr lang="en-US"/>
          </a:p>
        </p:txBody>
      </p:sp>
      <p:sp>
        <p:nvSpPr>
          <p:cNvPr id="19" name="Shape 16"/>
          <p:cNvSpPr/>
          <p:nvPr/>
        </p:nvSpPr>
        <p:spPr>
          <a:xfrm>
            <a:off x="13908024" y="9528048"/>
            <a:ext cx="182880" cy="182880"/>
          </a:xfrm>
          <a:prstGeom prst="ellipse">
            <a:avLst/>
          </a:prstGeom>
          <a:solidFill>
            <a:srgbClr val="761DDB"/>
          </a:solidFill>
          <a:ln/>
        </p:spPr>
        <p:txBody>
          <a:bodyPr/>
          <a:lstStyle/>
          <a:p>
            <a:endParaRPr lang="en-US"/>
          </a:p>
        </p:txBody>
      </p:sp>
      <p:sp>
        <p:nvSpPr>
          <p:cNvPr id="20" name="Shape 17"/>
          <p:cNvSpPr/>
          <p:nvPr/>
        </p:nvSpPr>
        <p:spPr>
          <a:xfrm>
            <a:off x="14164056" y="9528048"/>
            <a:ext cx="182880" cy="182880"/>
          </a:xfrm>
          <a:prstGeom prst="ellipse">
            <a:avLst/>
          </a:prstGeom>
          <a:solidFill>
            <a:srgbClr val="761DDB">
              <a:alpha val="22000"/>
            </a:srgbClr>
          </a:solidFill>
          <a:ln/>
        </p:spPr>
        <p:txBody>
          <a:bodyPr/>
          <a:lstStyle/>
          <a:p>
            <a:endParaRPr lang="en-US"/>
          </a:p>
        </p:txBody>
      </p:sp>
      <p:sp>
        <p:nvSpPr>
          <p:cNvPr id="21" name="Shape 18"/>
          <p:cNvSpPr/>
          <p:nvPr/>
        </p:nvSpPr>
        <p:spPr>
          <a:xfrm>
            <a:off x="14420088" y="9528048"/>
            <a:ext cx="182880" cy="182880"/>
          </a:xfrm>
          <a:prstGeom prst="ellipse">
            <a:avLst/>
          </a:prstGeom>
          <a:solidFill>
            <a:srgbClr val="761DDB">
              <a:alpha val="22000"/>
            </a:srgbClr>
          </a:solidFill>
          <a:ln/>
        </p:spPr>
        <p:txBody>
          <a:bodyPr/>
          <a:lstStyle/>
          <a:p>
            <a:endParaRPr lang="en-US"/>
          </a:p>
        </p:txBody>
      </p:sp>
      <p:sp>
        <p:nvSpPr>
          <p:cNvPr id="22" name="Shape 19"/>
          <p:cNvSpPr/>
          <p:nvPr/>
        </p:nvSpPr>
        <p:spPr>
          <a:xfrm>
            <a:off x="14676120" y="9528048"/>
            <a:ext cx="182880" cy="182880"/>
          </a:xfrm>
          <a:prstGeom prst="ellipse">
            <a:avLst/>
          </a:prstGeom>
          <a:solidFill>
            <a:srgbClr val="761DDB">
              <a:alpha val="22000"/>
            </a:srgbClr>
          </a:solidFill>
          <a:ln/>
        </p:spPr>
        <p:txBody>
          <a:bodyPr/>
          <a:lstStyle/>
          <a:p>
            <a:endParaRPr lang="en-US"/>
          </a:p>
        </p:txBody>
      </p:sp>
      <p:sp>
        <p:nvSpPr>
          <p:cNvPr id="23" name="Shape 20"/>
          <p:cNvSpPr/>
          <p:nvPr/>
        </p:nvSpPr>
        <p:spPr>
          <a:xfrm>
            <a:off x="14932152" y="9528048"/>
            <a:ext cx="182880" cy="182880"/>
          </a:xfrm>
          <a:prstGeom prst="ellipse">
            <a:avLst/>
          </a:prstGeom>
          <a:solidFill>
            <a:srgbClr val="761DDB">
              <a:alpha val="22000"/>
            </a:srgbClr>
          </a:solidFill>
          <a:ln/>
        </p:spPr>
        <p:txBody>
          <a:bodyPr/>
          <a:lstStyle/>
          <a:p>
            <a:endParaRPr lang="en-US"/>
          </a:p>
        </p:txBody>
      </p:sp>
      <p:pic>
        <p:nvPicPr>
          <p:cNvPr id="24" name="Image 1" descr="/private/tmp/claude-501/-Users-johnpb89-Desktop/751e14e8-de1e-42cb-8bce-61bc0e103cc2/scratchpad/figs/deck_staircase.png"/>
          <p:cNvPicPr>
            <a:picLocks noChangeAspect="1"/>
          </p:cNvPicPr>
          <p:nvPr/>
        </p:nvPicPr>
        <p:blipFill>
          <a:blip r:embed="rId4"/>
          <a:stretch>
            <a:fillRect/>
          </a:stretch>
        </p:blipFill>
        <p:spPr>
          <a:xfrm>
            <a:off x="1385316" y="2377440"/>
            <a:ext cx="12774168" cy="5440680"/>
          </a:xfrm>
          <a:prstGeom prst="rect">
            <a:avLst/>
          </a:prstGeom>
        </p:spPr>
      </p:pic>
      <p:sp>
        <p:nvSpPr>
          <p:cNvPr id="25" name="Text 21"/>
          <p:cNvSpPr txBox="1"/>
          <p:nvPr/>
        </p:nvSpPr>
        <p:spPr>
          <a:xfrm>
            <a:off x="822960" y="7973568"/>
            <a:ext cx="13898880" cy="502920"/>
          </a:xfrm>
          <a:prstGeom prst="rect">
            <a:avLst/>
          </a:prstGeom>
          <a:noFill/>
          <a:ln/>
        </p:spPr>
        <p:txBody>
          <a:bodyPr wrap="square" lIns="0" tIns="0" rIns="0" bIns="0" rtlCol="0" anchor="t"/>
          <a:lstStyle/>
          <a:p>
            <a:pPr marL="0" indent="0">
              <a:lnSpc>
                <a:spcPct val="130000"/>
              </a:lnSpc>
              <a:buNone/>
            </a:pPr>
            <a:r>
              <a:rPr lang="en-US" sz="1250" dirty="0">
                <a:solidFill>
                  <a:srgbClr val="6E6862"/>
                </a:solidFill>
                <a:latin typeface="Helvetica Neue" pitchFamily="34" charset="0"/>
                <a:ea typeface="Helvetica Neue" pitchFamily="34" charset="-122"/>
                <a:cs typeface="Helvetica Neue" pitchFamily="34" charset="-120"/>
              </a:rPr>
              <a:t>OLMo-2 is the one model family that publishes a snapshot after every training step. Identical questions at all four points in its life, asked the same way each time.</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457200" y="685800"/>
            <a:ext cx="14630400" cy="0"/>
          </a:xfrm>
          <a:prstGeom prst="line">
            <a:avLst/>
          </a:prstGeom>
          <a:noFill/>
          <a:ln w="6350">
            <a:solidFill>
              <a:srgbClr val="761DDB"/>
            </a:solidFill>
            <a:prstDash val="solid"/>
          </a:ln>
        </p:spPr>
        <p:txBody>
          <a:bodyPr/>
          <a:lstStyle/>
          <a:p>
            <a:endParaRPr lang="en-US"/>
          </a:p>
        </p:txBody>
      </p:sp>
      <p:pic>
        <p:nvPicPr>
          <p:cNvPr id="3" name="Image 0" descr="/private/tmp/claude-501/-Users-johnpb89-Desktop/751e14e8-de1e-42cb-8bce-61bc0e103cc2/scratchpad/rand/rand_logo.png"/>
          <p:cNvPicPr>
            <a:picLocks noChangeAspect="1"/>
          </p:cNvPicPr>
          <p:nvPr/>
        </p:nvPicPr>
        <p:blipFill>
          <a:blip r:embed="rId3"/>
          <a:stretch>
            <a:fillRect/>
          </a:stretch>
        </p:blipFill>
        <p:spPr>
          <a:xfrm>
            <a:off x="14621256" y="164592"/>
            <a:ext cx="457200" cy="457200"/>
          </a:xfrm>
          <a:prstGeom prst="rect">
            <a:avLst/>
          </a:prstGeom>
        </p:spPr>
      </p:pic>
      <p:sp>
        <p:nvSpPr>
          <p:cNvPr id="4" name="Text 1"/>
          <p:cNvSpPr txBox="1"/>
          <p:nvPr/>
        </p:nvSpPr>
        <p:spPr>
          <a:xfrm>
            <a:off x="457200" y="896112"/>
            <a:ext cx="13807440" cy="822960"/>
          </a:xfrm>
          <a:prstGeom prst="rect">
            <a:avLst/>
          </a:prstGeom>
          <a:noFill/>
          <a:ln/>
        </p:spPr>
        <p:txBody>
          <a:bodyPr wrap="square" lIns="0" tIns="0" rIns="0" bIns="0" rtlCol="0" anchor="t"/>
          <a:lstStyle/>
          <a:p>
            <a:pPr marL="0" indent="0">
              <a:buNone/>
            </a:pPr>
            <a:r>
              <a:rPr lang="en-US" sz="4000" dirty="0">
                <a:solidFill>
                  <a:srgbClr val="1C1C1E"/>
                </a:solidFill>
                <a:latin typeface="Georgia" pitchFamily="34" charset="0"/>
                <a:ea typeface="Georgia" pitchFamily="34" charset="-122"/>
                <a:cs typeface="Georgia" pitchFamily="34" charset="-120"/>
              </a:rPr>
              <a:t>The same bet, called a loss</a:t>
            </a:r>
            <a:endParaRPr lang="en-US" sz="4000" dirty="0"/>
          </a:p>
        </p:txBody>
      </p:sp>
      <p:sp>
        <p:nvSpPr>
          <p:cNvPr id="5" name="Text 2"/>
          <p:cNvSpPr txBox="1"/>
          <p:nvPr/>
        </p:nvSpPr>
        <p:spPr>
          <a:xfrm>
            <a:off x="457200" y="1810512"/>
            <a:ext cx="13807440" cy="566928"/>
          </a:xfrm>
          <a:prstGeom prst="rect">
            <a:avLst/>
          </a:prstGeom>
          <a:noFill/>
          <a:ln/>
        </p:spPr>
        <p:txBody>
          <a:bodyPr wrap="square" lIns="0" tIns="0" rIns="0" bIns="0" rtlCol="0" anchor="t"/>
          <a:lstStyle/>
          <a:p>
            <a:pPr marL="0" indent="0">
              <a:lnSpc>
                <a:spcPct val="125000"/>
              </a:lnSpc>
              <a:buNone/>
            </a:pPr>
            <a:r>
              <a:rPr lang="en-US" sz="2000" dirty="0">
                <a:solidFill>
                  <a:srgbClr val="6E6862"/>
                </a:solidFill>
                <a:latin typeface="Helvetica Neue" pitchFamily="34" charset="0"/>
                <a:ea typeface="Helvetica Neue" pitchFamily="34" charset="-122"/>
                <a:cs typeface="Helvetica Neue" pitchFamily="34" charset="-120"/>
              </a:rPr>
              <a:t>Four systems, four different reactions to one change in wording.</a:t>
            </a:r>
            <a:endParaRPr lang="en-US" sz="2000" dirty="0"/>
          </a:p>
        </p:txBody>
      </p:sp>
      <p:sp>
        <p:nvSpPr>
          <p:cNvPr id="6" name="Shape 3"/>
          <p:cNvSpPr/>
          <p:nvPr/>
        </p:nvSpPr>
        <p:spPr>
          <a:xfrm>
            <a:off x="457200" y="8421624"/>
            <a:ext cx="3200400" cy="0"/>
          </a:xfrm>
          <a:prstGeom prst="line">
            <a:avLst/>
          </a:prstGeom>
          <a:noFill/>
          <a:ln w="9525">
            <a:solidFill>
              <a:srgbClr val="CFCAC4"/>
            </a:solidFill>
            <a:prstDash val="solid"/>
          </a:ln>
        </p:spPr>
        <p:txBody>
          <a:bodyPr/>
          <a:lstStyle/>
          <a:p>
            <a:endParaRPr lang="en-US"/>
          </a:p>
        </p:txBody>
      </p:sp>
      <p:sp>
        <p:nvSpPr>
          <p:cNvPr id="7" name="Text 4"/>
          <p:cNvSpPr txBox="1"/>
          <p:nvPr/>
        </p:nvSpPr>
        <p:spPr>
          <a:xfrm>
            <a:off x="457200"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LLM revealed preferences</a:t>
            </a:r>
            <a:endParaRPr lang="en-US" sz="1200" dirty="0"/>
          </a:p>
        </p:txBody>
      </p:sp>
      <p:sp>
        <p:nvSpPr>
          <p:cNvPr id="8" name="Shape 5"/>
          <p:cNvSpPr/>
          <p:nvPr/>
        </p:nvSpPr>
        <p:spPr>
          <a:xfrm>
            <a:off x="4270248" y="8421624"/>
            <a:ext cx="3200400" cy="0"/>
          </a:xfrm>
          <a:prstGeom prst="line">
            <a:avLst/>
          </a:prstGeom>
          <a:noFill/>
          <a:ln w="9525">
            <a:solidFill>
              <a:srgbClr val="CFCAC4"/>
            </a:solidFill>
            <a:prstDash val="solid"/>
          </a:ln>
        </p:spPr>
        <p:txBody>
          <a:bodyPr/>
          <a:lstStyle/>
          <a:p>
            <a:endParaRPr lang="en-US"/>
          </a:p>
        </p:txBody>
      </p:sp>
      <p:sp>
        <p:nvSpPr>
          <p:cNvPr id="9" name="Text 6"/>
          <p:cNvSpPr txBox="1"/>
          <p:nvPr/>
        </p:nvSpPr>
        <p:spPr>
          <a:xfrm>
            <a:off x="4270248"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Project overview</a:t>
            </a:r>
            <a:endParaRPr lang="en-US" sz="1200" dirty="0"/>
          </a:p>
        </p:txBody>
      </p:sp>
      <p:sp>
        <p:nvSpPr>
          <p:cNvPr id="10" name="Shape 7"/>
          <p:cNvSpPr/>
          <p:nvPr/>
        </p:nvSpPr>
        <p:spPr>
          <a:xfrm>
            <a:off x="8083296" y="8421624"/>
            <a:ext cx="3200400" cy="0"/>
          </a:xfrm>
          <a:prstGeom prst="line">
            <a:avLst/>
          </a:prstGeom>
          <a:noFill/>
          <a:ln w="9525">
            <a:solidFill>
              <a:srgbClr val="CFCAC4"/>
            </a:solidFill>
            <a:prstDash val="solid"/>
          </a:ln>
        </p:spPr>
        <p:txBody>
          <a:bodyPr/>
          <a:lstStyle/>
          <a:p>
            <a:endParaRPr lang="en-US"/>
          </a:p>
        </p:txBody>
      </p:sp>
      <p:sp>
        <p:nvSpPr>
          <p:cNvPr id="11" name="Text 8"/>
          <p:cNvSpPr txBox="1"/>
          <p:nvPr/>
        </p:nvSpPr>
        <p:spPr>
          <a:xfrm>
            <a:off x="8083296"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October 2026</a:t>
            </a:r>
            <a:endParaRPr lang="en-US" sz="1200" dirty="0"/>
          </a:p>
        </p:txBody>
      </p:sp>
      <p:sp>
        <p:nvSpPr>
          <p:cNvPr id="12" name="Shape 9"/>
          <p:cNvSpPr/>
          <p:nvPr/>
        </p:nvSpPr>
        <p:spPr>
          <a:xfrm>
            <a:off x="11896344" y="8421624"/>
            <a:ext cx="3200400" cy="0"/>
          </a:xfrm>
          <a:prstGeom prst="line">
            <a:avLst/>
          </a:prstGeom>
          <a:noFill/>
          <a:ln w="9525">
            <a:solidFill>
              <a:srgbClr val="CFCAC4"/>
            </a:solidFill>
            <a:prstDash val="solid"/>
          </a:ln>
        </p:spPr>
        <p:txBody>
          <a:bodyPr/>
          <a:lstStyle/>
          <a:p>
            <a:endParaRPr lang="en-US"/>
          </a:p>
        </p:txBody>
      </p:sp>
      <p:sp>
        <p:nvSpPr>
          <p:cNvPr id="13" name="Text 10"/>
          <p:cNvSpPr txBox="1"/>
          <p:nvPr/>
        </p:nvSpPr>
        <p:spPr>
          <a:xfrm>
            <a:off x="11896344"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7 slides</a:t>
            </a:r>
            <a:endParaRPr lang="en-US" sz="1200" dirty="0"/>
          </a:p>
        </p:txBody>
      </p:sp>
      <p:sp>
        <p:nvSpPr>
          <p:cNvPr id="17" name="Shape 14"/>
          <p:cNvSpPr/>
          <p:nvPr/>
        </p:nvSpPr>
        <p:spPr>
          <a:xfrm>
            <a:off x="13395960" y="9528048"/>
            <a:ext cx="182880" cy="182880"/>
          </a:xfrm>
          <a:prstGeom prst="ellipse">
            <a:avLst/>
          </a:prstGeom>
          <a:solidFill>
            <a:srgbClr val="761DDB">
              <a:alpha val="22000"/>
            </a:srgbClr>
          </a:solidFill>
          <a:ln/>
        </p:spPr>
        <p:txBody>
          <a:bodyPr/>
          <a:lstStyle/>
          <a:p>
            <a:endParaRPr lang="en-US"/>
          </a:p>
        </p:txBody>
      </p:sp>
      <p:sp>
        <p:nvSpPr>
          <p:cNvPr id="18" name="Shape 15"/>
          <p:cNvSpPr/>
          <p:nvPr/>
        </p:nvSpPr>
        <p:spPr>
          <a:xfrm>
            <a:off x="13651992" y="9528048"/>
            <a:ext cx="182880" cy="182880"/>
          </a:xfrm>
          <a:prstGeom prst="ellipse">
            <a:avLst/>
          </a:prstGeom>
          <a:solidFill>
            <a:srgbClr val="761DDB">
              <a:alpha val="22000"/>
            </a:srgbClr>
          </a:solidFill>
          <a:ln/>
        </p:spPr>
        <p:txBody>
          <a:bodyPr/>
          <a:lstStyle/>
          <a:p>
            <a:endParaRPr lang="en-US"/>
          </a:p>
        </p:txBody>
      </p:sp>
      <p:sp>
        <p:nvSpPr>
          <p:cNvPr id="19" name="Shape 16"/>
          <p:cNvSpPr/>
          <p:nvPr/>
        </p:nvSpPr>
        <p:spPr>
          <a:xfrm>
            <a:off x="13908024" y="9528048"/>
            <a:ext cx="182880" cy="182880"/>
          </a:xfrm>
          <a:prstGeom prst="ellipse">
            <a:avLst/>
          </a:prstGeom>
          <a:solidFill>
            <a:srgbClr val="761DDB">
              <a:alpha val="22000"/>
            </a:srgbClr>
          </a:solidFill>
          <a:ln/>
        </p:spPr>
        <p:txBody>
          <a:bodyPr/>
          <a:lstStyle/>
          <a:p>
            <a:endParaRPr lang="en-US"/>
          </a:p>
        </p:txBody>
      </p:sp>
      <p:sp>
        <p:nvSpPr>
          <p:cNvPr id="20" name="Shape 17"/>
          <p:cNvSpPr/>
          <p:nvPr/>
        </p:nvSpPr>
        <p:spPr>
          <a:xfrm>
            <a:off x="14164056" y="9528048"/>
            <a:ext cx="182880" cy="182880"/>
          </a:xfrm>
          <a:prstGeom prst="ellipse">
            <a:avLst/>
          </a:prstGeom>
          <a:solidFill>
            <a:srgbClr val="761DDB"/>
          </a:solidFill>
          <a:ln/>
        </p:spPr>
        <p:txBody>
          <a:bodyPr/>
          <a:lstStyle/>
          <a:p>
            <a:endParaRPr lang="en-US"/>
          </a:p>
        </p:txBody>
      </p:sp>
      <p:sp>
        <p:nvSpPr>
          <p:cNvPr id="21" name="Shape 18"/>
          <p:cNvSpPr/>
          <p:nvPr/>
        </p:nvSpPr>
        <p:spPr>
          <a:xfrm>
            <a:off x="14420088" y="9528048"/>
            <a:ext cx="182880" cy="182880"/>
          </a:xfrm>
          <a:prstGeom prst="ellipse">
            <a:avLst/>
          </a:prstGeom>
          <a:solidFill>
            <a:srgbClr val="761DDB">
              <a:alpha val="22000"/>
            </a:srgbClr>
          </a:solidFill>
          <a:ln/>
        </p:spPr>
        <p:txBody>
          <a:bodyPr/>
          <a:lstStyle/>
          <a:p>
            <a:endParaRPr lang="en-US"/>
          </a:p>
        </p:txBody>
      </p:sp>
      <p:sp>
        <p:nvSpPr>
          <p:cNvPr id="22" name="Shape 19"/>
          <p:cNvSpPr/>
          <p:nvPr/>
        </p:nvSpPr>
        <p:spPr>
          <a:xfrm>
            <a:off x="14676120" y="9528048"/>
            <a:ext cx="182880" cy="182880"/>
          </a:xfrm>
          <a:prstGeom prst="ellipse">
            <a:avLst/>
          </a:prstGeom>
          <a:solidFill>
            <a:srgbClr val="761DDB">
              <a:alpha val="22000"/>
            </a:srgbClr>
          </a:solidFill>
          <a:ln/>
        </p:spPr>
        <p:txBody>
          <a:bodyPr/>
          <a:lstStyle/>
          <a:p>
            <a:endParaRPr lang="en-US"/>
          </a:p>
        </p:txBody>
      </p:sp>
      <p:sp>
        <p:nvSpPr>
          <p:cNvPr id="23" name="Shape 20"/>
          <p:cNvSpPr/>
          <p:nvPr/>
        </p:nvSpPr>
        <p:spPr>
          <a:xfrm>
            <a:off x="14932152" y="9528048"/>
            <a:ext cx="182880" cy="182880"/>
          </a:xfrm>
          <a:prstGeom prst="ellipse">
            <a:avLst/>
          </a:prstGeom>
          <a:solidFill>
            <a:srgbClr val="761DDB">
              <a:alpha val="22000"/>
            </a:srgbClr>
          </a:solidFill>
          <a:ln/>
        </p:spPr>
        <p:txBody>
          <a:bodyPr/>
          <a:lstStyle/>
          <a:p>
            <a:endParaRPr lang="en-US"/>
          </a:p>
        </p:txBody>
      </p:sp>
      <p:pic>
        <p:nvPicPr>
          <p:cNvPr id="24" name="Image 1" descr="/private/tmp/claude-501/-Users-johnpb89-Desktop/751e14e8-de1e-42cb-8bce-61bc0e103cc2/scratchpad/figs/deck_framegap.png"/>
          <p:cNvPicPr>
            <a:picLocks noChangeAspect="1"/>
          </p:cNvPicPr>
          <p:nvPr/>
        </p:nvPicPr>
        <p:blipFill>
          <a:blip r:embed="rId4"/>
          <a:stretch>
            <a:fillRect/>
          </a:stretch>
        </p:blipFill>
        <p:spPr>
          <a:xfrm>
            <a:off x="914400" y="2450592"/>
            <a:ext cx="13716000" cy="5148072"/>
          </a:xfrm>
          <a:prstGeom prst="rect">
            <a:avLst/>
          </a:prstGeom>
        </p:spPr>
      </p:pic>
      <p:sp>
        <p:nvSpPr>
          <p:cNvPr id="25" name="Text 21"/>
          <p:cNvSpPr txBox="1"/>
          <p:nvPr/>
        </p:nvSpPr>
        <p:spPr>
          <a:xfrm>
            <a:off x="822960" y="7726680"/>
            <a:ext cx="13898880" cy="502920"/>
          </a:xfrm>
          <a:prstGeom prst="rect">
            <a:avLst/>
          </a:prstGeom>
          <a:noFill/>
          <a:ln/>
        </p:spPr>
        <p:txBody>
          <a:bodyPr wrap="square" lIns="0" tIns="0" rIns="0" bIns="0" rtlCol="0" anchor="t"/>
          <a:lstStyle/>
          <a:p>
            <a:pPr marL="0" indent="0">
              <a:lnSpc>
                <a:spcPct val="130000"/>
              </a:lnSpc>
              <a:buNone/>
            </a:pPr>
            <a:r>
              <a:rPr lang="en-US" sz="1250" dirty="0">
                <a:solidFill>
                  <a:srgbClr val="6E6862"/>
                </a:solidFill>
                <a:latin typeface="Helvetica Neue" pitchFamily="34" charset="0"/>
                <a:ea typeface="Helvetica Neue" pitchFamily="34" charset="-122"/>
                <a:cs typeface="Helvetica Neue" pitchFamily="34" charset="-120"/>
              </a:rPr>
              <a:t>Change in gambling rate when an arithmetically identical bet is described in terms of a loss. Llama sits at plus 3.4 in one format and minus 5.1 in the other.</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457200" y="685800"/>
            <a:ext cx="14630400" cy="0"/>
          </a:xfrm>
          <a:prstGeom prst="line">
            <a:avLst/>
          </a:prstGeom>
          <a:noFill/>
          <a:ln w="6350">
            <a:solidFill>
              <a:srgbClr val="761DDB"/>
            </a:solidFill>
            <a:prstDash val="solid"/>
          </a:ln>
        </p:spPr>
        <p:txBody>
          <a:bodyPr/>
          <a:lstStyle/>
          <a:p>
            <a:endParaRPr lang="en-US"/>
          </a:p>
        </p:txBody>
      </p:sp>
      <p:pic>
        <p:nvPicPr>
          <p:cNvPr id="3" name="Image 0" descr="/private/tmp/claude-501/-Users-johnpb89-Desktop/751e14e8-de1e-42cb-8bce-61bc0e103cc2/scratchpad/rand/rand_logo.png"/>
          <p:cNvPicPr>
            <a:picLocks noChangeAspect="1"/>
          </p:cNvPicPr>
          <p:nvPr/>
        </p:nvPicPr>
        <p:blipFill>
          <a:blip r:embed="rId3"/>
          <a:stretch>
            <a:fillRect/>
          </a:stretch>
        </p:blipFill>
        <p:spPr>
          <a:xfrm>
            <a:off x="14621256" y="164592"/>
            <a:ext cx="457200" cy="457200"/>
          </a:xfrm>
          <a:prstGeom prst="rect">
            <a:avLst/>
          </a:prstGeom>
        </p:spPr>
      </p:pic>
      <p:sp>
        <p:nvSpPr>
          <p:cNvPr id="4" name="Text 1"/>
          <p:cNvSpPr txBox="1"/>
          <p:nvPr/>
        </p:nvSpPr>
        <p:spPr>
          <a:xfrm>
            <a:off x="457200" y="896112"/>
            <a:ext cx="13807440" cy="822960"/>
          </a:xfrm>
          <a:prstGeom prst="rect">
            <a:avLst/>
          </a:prstGeom>
          <a:noFill/>
          <a:ln/>
        </p:spPr>
        <p:txBody>
          <a:bodyPr wrap="square" lIns="0" tIns="0" rIns="0" bIns="0" rtlCol="0" anchor="t"/>
          <a:lstStyle/>
          <a:p>
            <a:pPr marL="0" indent="0">
              <a:buNone/>
            </a:pPr>
            <a:r>
              <a:rPr lang="en-US" sz="4000" dirty="0">
                <a:solidFill>
                  <a:srgbClr val="1C1C1E"/>
                </a:solidFill>
                <a:latin typeface="Georgia" pitchFamily="34" charset="0"/>
                <a:ea typeface="Georgia" pitchFamily="34" charset="-122"/>
                <a:cs typeface="Georgia" pitchFamily="34" charset="-120"/>
              </a:rPr>
              <a:t>Give it room to work, and it complies</a:t>
            </a:r>
            <a:endParaRPr lang="en-US" sz="4000" dirty="0"/>
          </a:p>
        </p:txBody>
      </p:sp>
      <p:sp>
        <p:nvSpPr>
          <p:cNvPr id="5" name="Text 2"/>
          <p:cNvSpPr txBox="1"/>
          <p:nvPr/>
        </p:nvSpPr>
        <p:spPr>
          <a:xfrm>
            <a:off x="457200" y="1810512"/>
            <a:ext cx="13807440" cy="566928"/>
          </a:xfrm>
          <a:prstGeom prst="rect">
            <a:avLst/>
          </a:prstGeom>
          <a:noFill/>
          <a:ln/>
        </p:spPr>
        <p:txBody>
          <a:bodyPr wrap="square" lIns="0" tIns="0" rIns="0" bIns="0" rtlCol="0" anchor="t"/>
          <a:lstStyle/>
          <a:p>
            <a:pPr marL="0" indent="0">
              <a:lnSpc>
                <a:spcPct val="125000"/>
              </a:lnSpc>
              <a:buNone/>
            </a:pPr>
            <a:r>
              <a:rPr lang="en-US" sz="2000" dirty="0">
                <a:solidFill>
                  <a:srgbClr val="6E6862"/>
                </a:solidFill>
                <a:latin typeface="Helvetica Neue" pitchFamily="34" charset="0"/>
                <a:ea typeface="Helvetica Neue" pitchFamily="34" charset="-122"/>
                <a:cs typeface="Helvetica Neue" pitchFamily="34" charset="-120"/>
              </a:rPr>
              <a:t>Told to maximize expected value and allowed to reason first, the models follow the rule 71 to 96 percent of the time.</a:t>
            </a:r>
            <a:endParaRPr lang="en-US" sz="2000" dirty="0"/>
          </a:p>
        </p:txBody>
      </p:sp>
      <p:sp>
        <p:nvSpPr>
          <p:cNvPr id="6" name="Shape 3"/>
          <p:cNvSpPr/>
          <p:nvPr/>
        </p:nvSpPr>
        <p:spPr>
          <a:xfrm>
            <a:off x="457200" y="8421624"/>
            <a:ext cx="3200400" cy="0"/>
          </a:xfrm>
          <a:prstGeom prst="line">
            <a:avLst/>
          </a:prstGeom>
          <a:noFill/>
          <a:ln w="9525">
            <a:solidFill>
              <a:srgbClr val="CFCAC4"/>
            </a:solidFill>
            <a:prstDash val="solid"/>
          </a:ln>
        </p:spPr>
        <p:txBody>
          <a:bodyPr/>
          <a:lstStyle/>
          <a:p>
            <a:endParaRPr lang="en-US"/>
          </a:p>
        </p:txBody>
      </p:sp>
      <p:sp>
        <p:nvSpPr>
          <p:cNvPr id="7" name="Text 4"/>
          <p:cNvSpPr txBox="1"/>
          <p:nvPr/>
        </p:nvSpPr>
        <p:spPr>
          <a:xfrm>
            <a:off x="457200"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LLM revealed preferences</a:t>
            </a:r>
            <a:endParaRPr lang="en-US" sz="1200" dirty="0"/>
          </a:p>
        </p:txBody>
      </p:sp>
      <p:sp>
        <p:nvSpPr>
          <p:cNvPr id="8" name="Shape 5"/>
          <p:cNvSpPr/>
          <p:nvPr/>
        </p:nvSpPr>
        <p:spPr>
          <a:xfrm>
            <a:off x="4270248" y="8421624"/>
            <a:ext cx="3200400" cy="0"/>
          </a:xfrm>
          <a:prstGeom prst="line">
            <a:avLst/>
          </a:prstGeom>
          <a:noFill/>
          <a:ln w="9525">
            <a:solidFill>
              <a:srgbClr val="CFCAC4"/>
            </a:solidFill>
            <a:prstDash val="solid"/>
          </a:ln>
        </p:spPr>
        <p:txBody>
          <a:bodyPr/>
          <a:lstStyle/>
          <a:p>
            <a:endParaRPr lang="en-US"/>
          </a:p>
        </p:txBody>
      </p:sp>
      <p:sp>
        <p:nvSpPr>
          <p:cNvPr id="9" name="Text 6"/>
          <p:cNvSpPr txBox="1"/>
          <p:nvPr/>
        </p:nvSpPr>
        <p:spPr>
          <a:xfrm>
            <a:off x="4270248"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Project overview</a:t>
            </a:r>
            <a:endParaRPr lang="en-US" sz="1200" dirty="0"/>
          </a:p>
        </p:txBody>
      </p:sp>
      <p:sp>
        <p:nvSpPr>
          <p:cNvPr id="10" name="Shape 7"/>
          <p:cNvSpPr/>
          <p:nvPr/>
        </p:nvSpPr>
        <p:spPr>
          <a:xfrm>
            <a:off x="8083296" y="8421624"/>
            <a:ext cx="3200400" cy="0"/>
          </a:xfrm>
          <a:prstGeom prst="line">
            <a:avLst/>
          </a:prstGeom>
          <a:noFill/>
          <a:ln w="9525">
            <a:solidFill>
              <a:srgbClr val="CFCAC4"/>
            </a:solidFill>
            <a:prstDash val="solid"/>
          </a:ln>
        </p:spPr>
        <p:txBody>
          <a:bodyPr/>
          <a:lstStyle/>
          <a:p>
            <a:endParaRPr lang="en-US"/>
          </a:p>
        </p:txBody>
      </p:sp>
      <p:sp>
        <p:nvSpPr>
          <p:cNvPr id="11" name="Text 8"/>
          <p:cNvSpPr txBox="1"/>
          <p:nvPr/>
        </p:nvSpPr>
        <p:spPr>
          <a:xfrm>
            <a:off x="8083296"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October 2026</a:t>
            </a:r>
            <a:endParaRPr lang="en-US" sz="1200" dirty="0"/>
          </a:p>
        </p:txBody>
      </p:sp>
      <p:sp>
        <p:nvSpPr>
          <p:cNvPr id="12" name="Shape 9"/>
          <p:cNvSpPr/>
          <p:nvPr/>
        </p:nvSpPr>
        <p:spPr>
          <a:xfrm>
            <a:off x="11896344" y="8421624"/>
            <a:ext cx="3200400" cy="0"/>
          </a:xfrm>
          <a:prstGeom prst="line">
            <a:avLst/>
          </a:prstGeom>
          <a:noFill/>
          <a:ln w="9525">
            <a:solidFill>
              <a:srgbClr val="CFCAC4"/>
            </a:solidFill>
            <a:prstDash val="solid"/>
          </a:ln>
        </p:spPr>
        <p:txBody>
          <a:bodyPr/>
          <a:lstStyle/>
          <a:p>
            <a:endParaRPr lang="en-US"/>
          </a:p>
        </p:txBody>
      </p:sp>
      <p:sp>
        <p:nvSpPr>
          <p:cNvPr id="13" name="Text 10"/>
          <p:cNvSpPr txBox="1"/>
          <p:nvPr/>
        </p:nvSpPr>
        <p:spPr>
          <a:xfrm>
            <a:off x="11896344"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7 slides</a:t>
            </a:r>
            <a:endParaRPr lang="en-US" sz="1200" dirty="0"/>
          </a:p>
        </p:txBody>
      </p:sp>
      <p:sp>
        <p:nvSpPr>
          <p:cNvPr id="17" name="Shape 14"/>
          <p:cNvSpPr/>
          <p:nvPr/>
        </p:nvSpPr>
        <p:spPr>
          <a:xfrm>
            <a:off x="13395960" y="9528048"/>
            <a:ext cx="182880" cy="182880"/>
          </a:xfrm>
          <a:prstGeom prst="ellipse">
            <a:avLst/>
          </a:prstGeom>
          <a:solidFill>
            <a:srgbClr val="761DDB">
              <a:alpha val="22000"/>
            </a:srgbClr>
          </a:solidFill>
          <a:ln/>
        </p:spPr>
        <p:txBody>
          <a:bodyPr/>
          <a:lstStyle/>
          <a:p>
            <a:endParaRPr lang="en-US"/>
          </a:p>
        </p:txBody>
      </p:sp>
      <p:sp>
        <p:nvSpPr>
          <p:cNvPr id="18" name="Shape 15"/>
          <p:cNvSpPr/>
          <p:nvPr/>
        </p:nvSpPr>
        <p:spPr>
          <a:xfrm>
            <a:off x="13651992" y="9528048"/>
            <a:ext cx="182880" cy="182880"/>
          </a:xfrm>
          <a:prstGeom prst="ellipse">
            <a:avLst/>
          </a:prstGeom>
          <a:solidFill>
            <a:srgbClr val="761DDB">
              <a:alpha val="22000"/>
            </a:srgbClr>
          </a:solidFill>
          <a:ln/>
        </p:spPr>
        <p:txBody>
          <a:bodyPr/>
          <a:lstStyle/>
          <a:p>
            <a:endParaRPr lang="en-US"/>
          </a:p>
        </p:txBody>
      </p:sp>
      <p:sp>
        <p:nvSpPr>
          <p:cNvPr id="19" name="Shape 16"/>
          <p:cNvSpPr/>
          <p:nvPr/>
        </p:nvSpPr>
        <p:spPr>
          <a:xfrm>
            <a:off x="13908024" y="9528048"/>
            <a:ext cx="182880" cy="182880"/>
          </a:xfrm>
          <a:prstGeom prst="ellipse">
            <a:avLst/>
          </a:prstGeom>
          <a:solidFill>
            <a:srgbClr val="761DDB">
              <a:alpha val="22000"/>
            </a:srgbClr>
          </a:solidFill>
          <a:ln/>
        </p:spPr>
        <p:txBody>
          <a:bodyPr/>
          <a:lstStyle/>
          <a:p>
            <a:endParaRPr lang="en-US"/>
          </a:p>
        </p:txBody>
      </p:sp>
      <p:sp>
        <p:nvSpPr>
          <p:cNvPr id="20" name="Shape 17"/>
          <p:cNvSpPr/>
          <p:nvPr/>
        </p:nvSpPr>
        <p:spPr>
          <a:xfrm>
            <a:off x="14164056" y="9528048"/>
            <a:ext cx="182880" cy="182880"/>
          </a:xfrm>
          <a:prstGeom prst="ellipse">
            <a:avLst/>
          </a:prstGeom>
          <a:solidFill>
            <a:srgbClr val="761DDB">
              <a:alpha val="22000"/>
            </a:srgbClr>
          </a:solidFill>
          <a:ln/>
        </p:spPr>
        <p:txBody>
          <a:bodyPr/>
          <a:lstStyle/>
          <a:p>
            <a:endParaRPr lang="en-US"/>
          </a:p>
        </p:txBody>
      </p:sp>
      <p:sp>
        <p:nvSpPr>
          <p:cNvPr id="21" name="Shape 18"/>
          <p:cNvSpPr/>
          <p:nvPr/>
        </p:nvSpPr>
        <p:spPr>
          <a:xfrm>
            <a:off x="14420088" y="9528048"/>
            <a:ext cx="182880" cy="182880"/>
          </a:xfrm>
          <a:prstGeom prst="ellipse">
            <a:avLst/>
          </a:prstGeom>
          <a:solidFill>
            <a:srgbClr val="761DDB"/>
          </a:solidFill>
          <a:ln/>
        </p:spPr>
        <p:txBody>
          <a:bodyPr/>
          <a:lstStyle/>
          <a:p>
            <a:endParaRPr lang="en-US"/>
          </a:p>
        </p:txBody>
      </p:sp>
      <p:sp>
        <p:nvSpPr>
          <p:cNvPr id="22" name="Shape 19"/>
          <p:cNvSpPr/>
          <p:nvPr/>
        </p:nvSpPr>
        <p:spPr>
          <a:xfrm>
            <a:off x="14676120" y="9528048"/>
            <a:ext cx="182880" cy="182880"/>
          </a:xfrm>
          <a:prstGeom prst="ellipse">
            <a:avLst/>
          </a:prstGeom>
          <a:solidFill>
            <a:srgbClr val="761DDB">
              <a:alpha val="22000"/>
            </a:srgbClr>
          </a:solidFill>
          <a:ln/>
        </p:spPr>
        <p:txBody>
          <a:bodyPr/>
          <a:lstStyle/>
          <a:p>
            <a:endParaRPr lang="en-US"/>
          </a:p>
        </p:txBody>
      </p:sp>
      <p:sp>
        <p:nvSpPr>
          <p:cNvPr id="23" name="Shape 20"/>
          <p:cNvSpPr/>
          <p:nvPr/>
        </p:nvSpPr>
        <p:spPr>
          <a:xfrm>
            <a:off x="14932152" y="9528048"/>
            <a:ext cx="182880" cy="182880"/>
          </a:xfrm>
          <a:prstGeom prst="ellipse">
            <a:avLst/>
          </a:prstGeom>
          <a:solidFill>
            <a:srgbClr val="761DDB">
              <a:alpha val="22000"/>
            </a:srgbClr>
          </a:solidFill>
          <a:ln/>
        </p:spPr>
        <p:txBody>
          <a:bodyPr/>
          <a:lstStyle/>
          <a:p>
            <a:endParaRPr lang="en-US"/>
          </a:p>
        </p:txBody>
      </p:sp>
      <p:sp>
        <p:nvSpPr>
          <p:cNvPr id="25" name="Text 21"/>
          <p:cNvSpPr txBox="1"/>
          <p:nvPr/>
        </p:nvSpPr>
        <p:spPr>
          <a:xfrm>
            <a:off x="822960" y="7882128"/>
            <a:ext cx="13898880" cy="502920"/>
          </a:xfrm>
          <a:prstGeom prst="rect">
            <a:avLst/>
          </a:prstGeom>
          <a:noFill/>
          <a:ln/>
        </p:spPr>
        <p:txBody>
          <a:bodyPr wrap="square" lIns="0" tIns="0" rIns="0" bIns="0" rtlCol="0" anchor="t"/>
          <a:lstStyle/>
          <a:p>
            <a:pPr marL="0" indent="0">
              <a:lnSpc>
                <a:spcPct val="130000"/>
              </a:lnSpc>
              <a:buNone/>
            </a:pPr>
            <a:r>
              <a:rPr lang="en-US" sz="1250" dirty="0">
                <a:solidFill>
                  <a:srgbClr val="6E6862"/>
                </a:solidFill>
                <a:latin typeface="Helvetica Neue" pitchFamily="34" charset="0"/>
                <a:ea typeface="Helvetica Neue" pitchFamily="34" charset="-122"/>
                <a:cs typeface="Helvetica Neue" pitchFamily="34" charset="-120"/>
              </a:rPr>
              <a:t>Gray: answering at once. Purple: reasoning first. Left, with the expected-value instruction; right, extra gambling under loss wording, no instruction.</a:t>
            </a:r>
            <a:endParaRPr lang="en-US" sz="1250" dirty="0"/>
          </a:p>
        </p:txBody>
      </p:sp>
      <p:pic>
        <p:nvPicPr>
          <p:cNvPr id="28" name="Image 1" descr="tr_crop.png"/>
          <p:cNvPicPr>
            <a:picLocks noChangeAspect="1"/>
          </p:cNvPicPr>
          <p:nvPr/>
        </p:nvPicPr>
        <p:blipFill>
          <a:blip r:embed="rId7"/>
          <a:stretch>
            <a:fillRect/>
          </a:stretch>
        </p:blipFill>
        <p:spPr>
          <a:xfrm>
            <a:off x="3318800" y="2377440"/>
            <a:ext cx="8907198" cy="534924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457200" y="685800"/>
            <a:ext cx="14630400" cy="0"/>
          </a:xfrm>
          <a:prstGeom prst="line">
            <a:avLst/>
          </a:prstGeom>
          <a:noFill/>
          <a:ln w="6350">
            <a:solidFill>
              <a:srgbClr val="761DDB"/>
            </a:solidFill>
            <a:prstDash val="solid"/>
          </a:ln>
        </p:spPr>
        <p:txBody>
          <a:bodyPr/>
          <a:lstStyle/>
          <a:p>
            <a:endParaRPr lang="en-US"/>
          </a:p>
        </p:txBody>
      </p:sp>
      <p:pic>
        <p:nvPicPr>
          <p:cNvPr id="3" name="Image 0" descr="/private/tmp/claude-501/-Users-johnpb89-Desktop/751e14e8-de1e-42cb-8bce-61bc0e103cc2/scratchpad/rand/rand_logo.png"/>
          <p:cNvPicPr>
            <a:picLocks noChangeAspect="1"/>
          </p:cNvPicPr>
          <p:nvPr/>
        </p:nvPicPr>
        <p:blipFill>
          <a:blip r:embed="rId3"/>
          <a:stretch>
            <a:fillRect/>
          </a:stretch>
        </p:blipFill>
        <p:spPr>
          <a:xfrm>
            <a:off x="14621256" y="164592"/>
            <a:ext cx="457200" cy="457200"/>
          </a:xfrm>
          <a:prstGeom prst="rect">
            <a:avLst/>
          </a:prstGeom>
        </p:spPr>
      </p:pic>
      <p:sp>
        <p:nvSpPr>
          <p:cNvPr id="4" name="Text 1"/>
          <p:cNvSpPr txBox="1"/>
          <p:nvPr/>
        </p:nvSpPr>
        <p:spPr>
          <a:xfrm>
            <a:off x="457200" y="896112"/>
            <a:ext cx="13807440" cy="822960"/>
          </a:xfrm>
          <a:prstGeom prst="rect">
            <a:avLst/>
          </a:prstGeom>
          <a:noFill/>
          <a:ln/>
        </p:spPr>
        <p:txBody>
          <a:bodyPr wrap="square" lIns="0" tIns="0" rIns="0" bIns="0" rtlCol="0" anchor="t"/>
          <a:lstStyle/>
          <a:p>
            <a:pPr marL="0" indent="0">
              <a:buNone/>
            </a:pPr>
            <a:r>
              <a:rPr lang="en-US" sz="4000" dirty="0">
                <a:solidFill>
                  <a:srgbClr val="1C1C1E"/>
                </a:solidFill>
                <a:latin typeface="Georgia" pitchFamily="34" charset="0"/>
                <a:ea typeface="Georgia" pitchFamily="34" charset="-122"/>
                <a:cs typeface="Georgia" pitchFamily="34" charset="-120"/>
              </a:rPr>
              <a:t>The written verdict can contradict the arithmetic</a:t>
            </a:r>
            <a:endParaRPr lang="en-US" sz="4000" dirty="0"/>
          </a:p>
        </p:txBody>
      </p:sp>
      <p:sp>
        <p:nvSpPr>
          <p:cNvPr id="6" name="Shape 3"/>
          <p:cNvSpPr/>
          <p:nvPr/>
        </p:nvSpPr>
        <p:spPr>
          <a:xfrm>
            <a:off x="457200" y="8421624"/>
            <a:ext cx="3200400" cy="0"/>
          </a:xfrm>
          <a:prstGeom prst="line">
            <a:avLst/>
          </a:prstGeom>
          <a:noFill/>
          <a:ln w="9525">
            <a:solidFill>
              <a:srgbClr val="CFCAC4"/>
            </a:solidFill>
            <a:prstDash val="solid"/>
          </a:ln>
        </p:spPr>
        <p:txBody>
          <a:bodyPr/>
          <a:lstStyle/>
          <a:p>
            <a:endParaRPr lang="en-US"/>
          </a:p>
        </p:txBody>
      </p:sp>
      <p:sp>
        <p:nvSpPr>
          <p:cNvPr id="7" name="Text 4"/>
          <p:cNvSpPr txBox="1"/>
          <p:nvPr/>
        </p:nvSpPr>
        <p:spPr>
          <a:xfrm>
            <a:off x="457200"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LLM revealed preferences</a:t>
            </a:r>
            <a:endParaRPr lang="en-US" sz="1200" dirty="0"/>
          </a:p>
        </p:txBody>
      </p:sp>
      <p:sp>
        <p:nvSpPr>
          <p:cNvPr id="8" name="Shape 5"/>
          <p:cNvSpPr/>
          <p:nvPr/>
        </p:nvSpPr>
        <p:spPr>
          <a:xfrm>
            <a:off x="4270248" y="8421624"/>
            <a:ext cx="3200400" cy="0"/>
          </a:xfrm>
          <a:prstGeom prst="line">
            <a:avLst/>
          </a:prstGeom>
          <a:noFill/>
          <a:ln w="9525">
            <a:solidFill>
              <a:srgbClr val="CFCAC4"/>
            </a:solidFill>
            <a:prstDash val="solid"/>
          </a:ln>
        </p:spPr>
        <p:txBody>
          <a:bodyPr/>
          <a:lstStyle/>
          <a:p>
            <a:endParaRPr lang="en-US"/>
          </a:p>
        </p:txBody>
      </p:sp>
      <p:sp>
        <p:nvSpPr>
          <p:cNvPr id="9" name="Text 6"/>
          <p:cNvSpPr txBox="1"/>
          <p:nvPr/>
        </p:nvSpPr>
        <p:spPr>
          <a:xfrm>
            <a:off x="4270248"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Project overview</a:t>
            </a:r>
            <a:endParaRPr lang="en-US" sz="1200" dirty="0"/>
          </a:p>
        </p:txBody>
      </p:sp>
      <p:sp>
        <p:nvSpPr>
          <p:cNvPr id="10" name="Shape 7"/>
          <p:cNvSpPr/>
          <p:nvPr/>
        </p:nvSpPr>
        <p:spPr>
          <a:xfrm>
            <a:off x="8083296" y="8421624"/>
            <a:ext cx="3200400" cy="0"/>
          </a:xfrm>
          <a:prstGeom prst="line">
            <a:avLst/>
          </a:prstGeom>
          <a:noFill/>
          <a:ln w="9525">
            <a:solidFill>
              <a:srgbClr val="CFCAC4"/>
            </a:solidFill>
            <a:prstDash val="solid"/>
          </a:ln>
        </p:spPr>
        <p:txBody>
          <a:bodyPr/>
          <a:lstStyle/>
          <a:p>
            <a:endParaRPr lang="en-US"/>
          </a:p>
        </p:txBody>
      </p:sp>
      <p:sp>
        <p:nvSpPr>
          <p:cNvPr id="11" name="Text 8"/>
          <p:cNvSpPr txBox="1"/>
          <p:nvPr/>
        </p:nvSpPr>
        <p:spPr>
          <a:xfrm>
            <a:off x="8083296"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October 2026</a:t>
            </a:r>
            <a:endParaRPr lang="en-US" sz="1200" dirty="0"/>
          </a:p>
        </p:txBody>
      </p:sp>
      <p:sp>
        <p:nvSpPr>
          <p:cNvPr id="12" name="Shape 9"/>
          <p:cNvSpPr/>
          <p:nvPr/>
        </p:nvSpPr>
        <p:spPr>
          <a:xfrm>
            <a:off x="11896344" y="8421624"/>
            <a:ext cx="3200400" cy="0"/>
          </a:xfrm>
          <a:prstGeom prst="line">
            <a:avLst/>
          </a:prstGeom>
          <a:noFill/>
          <a:ln w="9525">
            <a:solidFill>
              <a:srgbClr val="CFCAC4"/>
            </a:solidFill>
            <a:prstDash val="solid"/>
          </a:ln>
        </p:spPr>
        <p:txBody>
          <a:bodyPr/>
          <a:lstStyle/>
          <a:p>
            <a:endParaRPr lang="en-US"/>
          </a:p>
        </p:txBody>
      </p:sp>
      <p:sp>
        <p:nvSpPr>
          <p:cNvPr id="13" name="Text 10"/>
          <p:cNvSpPr txBox="1"/>
          <p:nvPr/>
        </p:nvSpPr>
        <p:spPr>
          <a:xfrm>
            <a:off x="11896344"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7 slides</a:t>
            </a:r>
            <a:endParaRPr lang="en-US" sz="1200" dirty="0"/>
          </a:p>
        </p:txBody>
      </p:sp>
      <p:sp>
        <p:nvSpPr>
          <p:cNvPr id="17" name="Shape 14"/>
          <p:cNvSpPr/>
          <p:nvPr/>
        </p:nvSpPr>
        <p:spPr>
          <a:xfrm>
            <a:off x="13395960" y="9528048"/>
            <a:ext cx="182880" cy="182880"/>
          </a:xfrm>
          <a:prstGeom prst="ellipse">
            <a:avLst/>
          </a:prstGeom>
          <a:solidFill>
            <a:srgbClr val="761DDB">
              <a:alpha val="22000"/>
            </a:srgbClr>
          </a:solidFill>
          <a:ln/>
        </p:spPr>
        <p:txBody>
          <a:bodyPr/>
          <a:lstStyle/>
          <a:p>
            <a:endParaRPr lang="en-US"/>
          </a:p>
        </p:txBody>
      </p:sp>
      <p:sp>
        <p:nvSpPr>
          <p:cNvPr id="18" name="Shape 15"/>
          <p:cNvSpPr/>
          <p:nvPr/>
        </p:nvSpPr>
        <p:spPr>
          <a:xfrm>
            <a:off x="13651992" y="9528048"/>
            <a:ext cx="182880" cy="182880"/>
          </a:xfrm>
          <a:prstGeom prst="ellipse">
            <a:avLst/>
          </a:prstGeom>
          <a:solidFill>
            <a:srgbClr val="761DDB">
              <a:alpha val="22000"/>
            </a:srgbClr>
          </a:solidFill>
          <a:ln/>
        </p:spPr>
        <p:txBody>
          <a:bodyPr/>
          <a:lstStyle/>
          <a:p>
            <a:endParaRPr lang="en-US"/>
          </a:p>
        </p:txBody>
      </p:sp>
      <p:sp>
        <p:nvSpPr>
          <p:cNvPr id="19" name="Shape 16"/>
          <p:cNvSpPr/>
          <p:nvPr/>
        </p:nvSpPr>
        <p:spPr>
          <a:xfrm>
            <a:off x="13908024" y="9528048"/>
            <a:ext cx="182880" cy="182880"/>
          </a:xfrm>
          <a:prstGeom prst="ellipse">
            <a:avLst/>
          </a:prstGeom>
          <a:solidFill>
            <a:srgbClr val="761DDB">
              <a:alpha val="22000"/>
            </a:srgbClr>
          </a:solidFill>
          <a:ln/>
        </p:spPr>
        <p:txBody>
          <a:bodyPr/>
          <a:lstStyle/>
          <a:p>
            <a:endParaRPr lang="en-US"/>
          </a:p>
        </p:txBody>
      </p:sp>
      <p:sp>
        <p:nvSpPr>
          <p:cNvPr id="20" name="Shape 17"/>
          <p:cNvSpPr/>
          <p:nvPr/>
        </p:nvSpPr>
        <p:spPr>
          <a:xfrm>
            <a:off x="14164056" y="9528048"/>
            <a:ext cx="182880" cy="182880"/>
          </a:xfrm>
          <a:prstGeom prst="ellipse">
            <a:avLst/>
          </a:prstGeom>
          <a:solidFill>
            <a:srgbClr val="761DDB">
              <a:alpha val="22000"/>
            </a:srgbClr>
          </a:solidFill>
          <a:ln/>
        </p:spPr>
        <p:txBody>
          <a:bodyPr/>
          <a:lstStyle/>
          <a:p>
            <a:endParaRPr lang="en-US"/>
          </a:p>
        </p:txBody>
      </p:sp>
      <p:sp>
        <p:nvSpPr>
          <p:cNvPr id="21" name="Shape 18"/>
          <p:cNvSpPr/>
          <p:nvPr/>
        </p:nvSpPr>
        <p:spPr>
          <a:xfrm>
            <a:off x="14420088" y="9528048"/>
            <a:ext cx="182880" cy="182880"/>
          </a:xfrm>
          <a:prstGeom prst="ellipse">
            <a:avLst/>
          </a:prstGeom>
          <a:solidFill>
            <a:srgbClr val="761DDB">
              <a:alpha val="22000"/>
            </a:srgbClr>
          </a:solidFill>
          <a:ln/>
        </p:spPr>
        <p:txBody>
          <a:bodyPr/>
          <a:lstStyle/>
          <a:p>
            <a:endParaRPr lang="en-US"/>
          </a:p>
        </p:txBody>
      </p:sp>
      <p:sp>
        <p:nvSpPr>
          <p:cNvPr id="22" name="Shape 19"/>
          <p:cNvSpPr/>
          <p:nvPr/>
        </p:nvSpPr>
        <p:spPr>
          <a:xfrm>
            <a:off x="14676120" y="9528048"/>
            <a:ext cx="182880" cy="182880"/>
          </a:xfrm>
          <a:prstGeom prst="ellipse">
            <a:avLst/>
          </a:prstGeom>
          <a:solidFill>
            <a:srgbClr val="761DDB"/>
          </a:solidFill>
          <a:ln/>
        </p:spPr>
        <p:txBody>
          <a:bodyPr/>
          <a:lstStyle/>
          <a:p>
            <a:endParaRPr lang="en-US"/>
          </a:p>
        </p:txBody>
      </p:sp>
      <p:sp>
        <p:nvSpPr>
          <p:cNvPr id="23" name="Shape 20"/>
          <p:cNvSpPr/>
          <p:nvPr/>
        </p:nvSpPr>
        <p:spPr>
          <a:xfrm>
            <a:off x="14932152" y="9528048"/>
            <a:ext cx="182880" cy="182880"/>
          </a:xfrm>
          <a:prstGeom prst="ellipse">
            <a:avLst/>
          </a:prstGeom>
          <a:solidFill>
            <a:srgbClr val="761DDB">
              <a:alpha val="22000"/>
            </a:srgbClr>
          </a:solidFill>
          <a:ln/>
        </p:spPr>
        <p:txBody>
          <a:bodyPr/>
          <a:lstStyle/>
          <a:p>
            <a:endParaRPr lang="en-US"/>
          </a:p>
        </p:txBody>
      </p:sp>
      <p:sp>
        <p:nvSpPr>
          <p:cNvPr id="24" name="Shape 21"/>
          <p:cNvSpPr/>
          <p:nvPr/>
        </p:nvSpPr>
        <p:spPr>
          <a:xfrm>
            <a:off x="457200" y="2606040"/>
            <a:ext cx="7086600" cy="0"/>
          </a:xfrm>
          <a:prstGeom prst="line">
            <a:avLst/>
          </a:prstGeom>
          <a:noFill/>
          <a:ln w="12700">
            <a:solidFill>
              <a:srgbClr val="761DDB"/>
            </a:solidFill>
            <a:prstDash val="solid"/>
          </a:ln>
        </p:spPr>
        <p:txBody>
          <a:bodyPr/>
          <a:lstStyle/>
          <a:p>
            <a:endParaRPr lang="en-US"/>
          </a:p>
        </p:txBody>
      </p:sp>
      <p:sp>
        <p:nvSpPr>
          <p:cNvPr id="25" name="Text 22"/>
          <p:cNvSpPr txBox="1"/>
          <p:nvPr/>
        </p:nvSpPr>
        <p:spPr>
          <a:xfrm>
            <a:off x="457200" y="2788920"/>
            <a:ext cx="7086600" cy="685800"/>
          </a:xfrm>
          <a:prstGeom prst="rect">
            <a:avLst/>
          </a:prstGeom>
          <a:noFill/>
          <a:ln/>
        </p:spPr>
        <p:txBody>
          <a:bodyPr wrap="square" lIns="0" tIns="0" rIns="0" bIns="0" rtlCol="0" anchor="t"/>
          <a:lstStyle/>
          <a:p>
            <a:pPr marL="0" indent="0">
              <a:lnSpc>
                <a:spcPct val="115000"/>
              </a:lnSpc>
              <a:buNone/>
            </a:pPr>
            <a:r>
              <a:rPr lang="en-US" sz="2400" dirty="0">
                <a:solidFill>
                  <a:srgbClr val="1C1C1E"/>
                </a:solidFill>
                <a:latin typeface="Georgia" pitchFamily="34" charset="0"/>
                <a:ea typeface="Georgia" pitchFamily="34" charset="-122"/>
                <a:cs typeface="Georgia" pitchFamily="34" charset="-120"/>
              </a:rPr>
              <a:t>Right sums, wrong verdict</a:t>
            </a:r>
            <a:endParaRPr lang="en-US" sz="2400" dirty="0"/>
          </a:p>
        </p:txBody>
      </p:sp>
      <p:sp>
        <p:nvSpPr>
          <p:cNvPr id="26" name="Text 23"/>
          <p:cNvSpPr txBox="1"/>
          <p:nvPr/>
        </p:nvSpPr>
        <p:spPr>
          <a:xfrm>
            <a:off x="457200" y="3657600"/>
            <a:ext cx="7086600" cy="1554480"/>
          </a:xfrm>
          <a:prstGeom prst="rect">
            <a:avLst/>
          </a:prstGeom>
          <a:noFill/>
          <a:ln/>
        </p:spPr>
        <p:txBody>
          <a:bodyPr wrap="square" lIns="0" tIns="0" rIns="0" bIns="0" rtlCol="0" anchor="t"/>
          <a:lstStyle/>
          <a:p>
            <a:pPr marL="0" indent="0">
              <a:lnSpc>
                <a:spcPct val="140000"/>
              </a:lnSpc>
              <a:buNone/>
            </a:pPr>
            <a:r>
              <a:rPr lang="en-US" sz="1600" dirty="0">
                <a:solidFill>
                  <a:srgbClr val="1C1C1E"/>
                </a:solidFill>
                <a:latin typeface="Helvetica Neue" pitchFamily="34" charset="0"/>
                <a:ea typeface="Helvetica Neue" pitchFamily="34" charset="-122"/>
                <a:cs typeface="Helvetica Neue" pitchFamily="34" charset="-120"/>
              </a:rPr>
              <a:t>Most of Qwen’s remaining errors compute the expected value correctly and then write “$152.04, which is less than the guaranteed $117.”</a:t>
            </a:r>
            <a:endParaRPr lang="en-US" sz="1600" dirty="0"/>
          </a:p>
        </p:txBody>
      </p:sp>
      <p:sp>
        <p:nvSpPr>
          <p:cNvPr id="27" name="Shape 24"/>
          <p:cNvSpPr/>
          <p:nvPr/>
        </p:nvSpPr>
        <p:spPr>
          <a:xfrm>
            <a:off x="8001000" y="2606040"/>
            <a:ext cx="7086600" cy="0"/>
          </a:xfrm>
          <a:prstGeom prst="line">
            <a:avLst/>
          </a:prstGeom>
          <a:noFill/>
          <a:ln w="12700">
            <a:solidFill>
              <a:srgbClr val="761DDB"/>
            </a:solidFill>
            <a:prstDash val="solid"/>
          </a:ln>
        </p:spPr>
        <p:txBody>
          <a:bodyPr/>
          <a:lstStyle/>
          <a:p>
            <a:endParaRPr lang="en-US"/>
          </a:p>
        </p:txBody>
      </p:sp>
      <p:sp>
        <p:nvSpPr>
          <p:cNvPr id="28" name="Text 25"/>
          <p:cNvSpPr txBox="1"/>
          <p:nvPr/>
        </p:nvSpPr>
        <p:spPr>
          <a:xfrm>
            <a:off x="8001000" y="2788920"/>
            <a:ext cx="7086600" cy="685800"/>
          </a:xfrm>
          <a:prstGeom prst="rect">
            <a:avLst/>
          </a:prstGeom>
          <a:noFill/>
          <a:ln/>
        </p:spPr>
        <p:txBody>
          <a:bodyPr wrap="square" lIns="0" tIns="0" rIns="0" bIns="0" rtlCol="0" anchor="t"/>
          <a:lstStyle/>
          <a:p>
            <a:pPr marL="0" indent="0">
              <a:lnSpc>
                <a:spcPct val="115000"/>
              </a:lnSpc>
              <a:buNone/>
            </a:pPr>
            <a:r>
              <a:rPr lang="en-US" sz="2400" dirty="0">
                <a:solidFill>
                  <a:srgbClr val="1C1C1E"/>
                </a:solidFill>
                <a:latin typeface="Georgia" pitchFamily="34" charset="0"/>
                <a:ea typeface="Georgia" pitchFamily="34" charset="-122"/>
                <a:cs typeface="Georgia" pitchFamily="34" charset="-120"/>
              </a:rPr>
              <a:t>Qwen leans safe</a:t>
            </a:r>
            <a:endParaRPr lang="en-US" sz="2400" dirty="0"/>
          </a:p>
        </p:txBody>
      </p:sp>
      <p:sp>
        <p:nvSpPr>
          <p:cNvPr id="29" name="Text 26"/>
          <p:cNvSpPr txBox="1"/>
          <p:nvPr/>
        </p:nvSpPr>
        <p:spPr>
          <a:xfrm>
            <a:off x="8001000" y="3657600"/>
            <a:ext cx="7086600" cy="1554480"/>
          </a:xfrm>
          <a:prstGeom prst="rect">
            <a:avLst/>
          </a:prstGeom>
          <a:noFill/>
          <a:ln/>
        </p:spPr>
        <p:txBody>
          <a:bodyPr wrap="square" lIns="0" tIns="0" rIns="0" bIns="0" rtlCol="0" anchor="t"/>
          <a:lstStyle/>
          <a:p>
            <a:pPr marL="0" indent="0">
              <a:lnSpc>
                <a:spcPct val="140000"/>
              </a:lnSpc>
              <a:buNone/>
            </a:pPr>
            <a:r>
              <a:rPr lang="en-US" sz="1600" dirty="0">
                <a:solidFill>
                  <a:srgbClr val="1C1C1E"/>
                </a:solidFill>
                <a:latin typeface="Helvetica Neue" pitchFamily="34" charset="0"/>
                <a:ea typeface="Helvetica Neue" pitchFamily="34" charset="-122"/>
                <a:cs typeface="Helvetica Neue" pitchFamily="34" charset="-120"/>
              </a:rPr>
              <a:t>Its backward verdicts all favor the sure amount and follow one stock phrase. Handed the right number, after “which is” it says “less” 89% of the time.</a:t>
            </a:r>
            <a:endParaRPr lang="en-US" sz="1600" dirty="0"/>
          </a:p>
        </p:txBody>
      </p:sp>
      <p:sp>
        <p:nvSpPr>
          <p:cNvPr id="30" name="Shape 27"/>
          <p:cNvSpPr/>
          <p:nvPr/>
        </p:nvSpPr>
        <p:spPr>
          <a:xfrm>
            <a:off x="457200" y="5440680"/>
            <a:ext cx="7086600" cy="0"/>
          </a:xfrm>
          <a:prstGeom prst="line">
            <a:avLst/>
          </a:prstGeom>
          <a:noFill/>
          <a:ln w="12700">
            <a:solidFill>
              <a:srgbClr val="761DDB"/>
            </a:solidFill>
            <a:prstDash val="solid"/>
          </a:ln>
        </p:spPr>
        <p:txBody>
          <a:bodyPr/>
          <a:lstStyle/>
          <a:p>
            <a:endParaRPr lang="en-US"/>
          </a:p>
        </p:txBody>
      </p:sp>
      <p:sp>
        <p:nvSpPr>
          <p:cNvPr id="31" name="Text 28"/>
          <p:cNvSpPr txBox="1"/>
          <p:nvPr/>
        </p:nvSpPr>
        <p:spPr>
          <a:xfrm>
            <a:off x="457200" y="5623560"/>
            <a:ext cx="7086600" cy="685800"/>
          </a:xfrm>
          <a:prstGeom prst="rect">
            <a:avLst/>
          </a:prstGeom>
          <a:noFill/>
          <a:ln/>
        </p:spPr>
        <p:txBody>
          <a:bodyPr wrap="square" lIns="0" tIns="0" rIns="0" bIns="0" rtlCol="0" anchor="t"/>
          <a:lstStyle/>
          <a:p>
            <a:pPr marL="0" indent="0">
              <a:lnSpc>
                <a:spcPct val="115000"/>
              </a:lnSpc>
              <a:buNone/>
            </a:pPr>
            <a:r>
              <a:rPr lang="en-US" sz="2400" dirty="0">
                <a:solidFill>
                  <a:srgbClr val="1C1C1E"/>
                </a:solidFill>
                <a:latin typeface="Georgia" pitchFamily="34" charset="0"/>
                <a:ea typeface="Georgia" pitchFamily="34" charset="-122"/>
                <a:cs typeface="Georgia" pitchFamily="34" charset="-120"/>
              </a:rPr>
              <a:t>Llama leans the other way</a:t>
            </a:r>
            <a:endParaRPr lang="en-US" sz="2400" dirty="0"/>
          </a:p>
        </p:txBody>
      </p:sp>
      <p:sp>
        <p:nvSpPr>
          <p:cNvPr id="32" name="Text 29"/>
          <p:cNvSpPr txBox="1"/>
          <p:nvPr/>
        </p:nvSpPr>
        <p:spPr>
          <a:xfrm>
            <a:off x="457200" y="6492240"/>
            <a:ext cx="7086600" cy="1554480"/>
          </a:xfrm>
          <a:prstGeom prst="rect">
            <a:avLst/>
          </a:prstGeom>
          <a:noFill/>
          <a:ln/>
        </p:spPr>
        <p:txBody>
          <a:bodyPr wrap="square" lIns="0" tIns="0" rIns="0" bIns="0" rtlCol="0" anchor="t"/>
          <a:lstStyle/>
          <a:p>
            <a:pPr marL="0" indent="0">
              <a:lnSpc>
                <a:spcPct val="140000"/>
              </a:lnSpc>
              <a:buNone/>
            </a:pPr>
            <a:r>
              <a:rPr lang="en-US" sz="1600" dirty="0">
                <a:solidFill>
                  <a:srgbClr val="1C1C1E"/>
                </a:solidFill>
                <a:latin typeface="Helvetica Neue" pitchFamily="34" charset="0"/>
                <a:ea typeface="Helvetica Neue" pitchFamily="34" charset="-122"/>
                <a:cs typeface="Helvetica Neue" pitchFamily="34" charset="-120"/>
              </a:rPr>
              <a:t>Llama writes “Since $115.72 is greater than $149,” mostly when the gamble is listed first. Each family has its own habit.</a:t>
            </a:r>
            <a:endParaRPr lang="en-US" sz="1600" dirty="0"/>
          </a:p>
        </p:txBody>
      </p:sp>
      <p:sp>
        <p:nvSpPr>
          <p:cNvPr id="33" name="Shape 30"/>
          <p:cNvSpPr/>
          <p:nvPr/>
        </p:nvSpPr>
        <p:spPr>
          <a:xfrm>
            <a:off x="8001000" y="5440680"/>
            <a:ext cx="7086600" cy="0"/>
          </a:xfrm>
          <a:prstGeom prst="line">
            <a:avLst/>
          </a:prstGeom>
          <a:noFill/>
          <a:ln w="12700">
            <a:solidFill>
              <a:srgbClr val="761DDB"/>
            </a:solidFill>
            <a:prstDash val="solid"/>
          </a:ln>
        </p:spPr>
        <p:txBody>
          <a:bodyPr/>
          <a:lstStyle/>
          <a:p>
            <a:endParaRPr lang="en-US"/>
          </a:p>
        </p:txBody>
      </p:sp>
      <p:sp>
        <p:nvSpPr>
          <p:cNvPr id="34" name="Text 31"/>
          <p:cNvSpPr txBox="1"/>
          <p:nvPr/>
        </p:nvSpPr>
        <p:spPr>
          <a:xfrm>
            <a:off x="8001000" y="5623560"/>
            <a:ext cx="7086600" cy="685800"/>
          </a:xfrm>
          <a:prstGeom prst="rect">
            <a:avLst/>
          </a:prstGeom>
          <a:noFill/>
          <a:ln/>
        </p:spPr>
        <p:txBody>
          <a:bodyPr wrap="square" lIns="0" tIns="0" rIns="0" bIns="0" rtlCol="0" anchor="t"/>
          <a:lstStyle/>
          <a:p>
            <a:pPr marL="0" indent="0">
              <a:lnSpc>
                <a:spcPct val="115000"/>
              </a:lnSpc>
              <a:buNone/>
            </a:pPr>
            <a:r>
              <a:rPr lang="en-US" sz="2400" dirty="0">
                <a:solidFill>
                  <a:srgbClr val="1C1C1E"/>
                </a:solidFill>
                <a:latin typeface="Georgia" pitchFamily="34" charset="0"/>
                <a:ea typeface="Georgia" pitchFamily="34" charset="-122"/>
                <a:cs typeface="Georgia" pitchFamily="34" charset="-120"/>
              </a:rPr>
              <a:t>Telling works, paying did not</a:t>
            </a:r>
            <a:endParaRPr lang="en-US" sz="2400" dirty="0"/>
          </a:p>
        </p:txBody>
      </p:sp>
      <p:sp>
        <p:nvSpPr>
          <p:cNvPr id="35" name="Text 32"/>
          <p:cNvSpPr txBox="1"/>
          <p:nvPr/>
        </p:nvSpPr>
        <p:spPr>
          <a:xfrm>
            <a:off x="8001000" y="6492240"/>
            <a:ext cx="7086600" cy="1554480"/>
          </a:xfrm>
          <a:prstGeom prst="rect">
            <a:avLst/>
          </a:prstGeom>
          <a:noFill/>
          <a:ln/>
        </p:spPr>
        <p:txBody>
          <a:bodyPr wrap="square" lIns="0" tIns="0" rIns="0" bIns="0" rtlCol="0" anchor="t"/>
          <a:lstStyle/>
          <a:p>
            <a:pPr marL="0" indent="0">
              <a:lnSpc>
                <a:spcPct val="140000"/>
              </a:lnSpc>
              <a:buNone/>
            </a:pPr>
            <a:r>
              <a:rPr lang="en-US" sz="1600" dirty="0">
                <a:solidFill>
                  <a:srgbClr val="1C1C1E"/>
                </a:solidFill>
                <a:latin typeface="Helvetica Neue" pitchFamily="34" charset="0"/>
                <a:ea typeface="Helvetica Neue" pitchFamily="34" charset="-122"/>
                <a:cs typeface="Helvetica Neue" pitchFamily="34" charset="-120"/>
              </a:rPr>
              <a:t>Told the rule, Qwen stops writing backward verdicts. Paid through training for snap answers, a model learned one fixed answer, never the arithmetic.</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457200" y="685800"/>
            <a:ext cx="14630400" cy="0"/>
          </a:xfrm>
          <a:prstGeom prst="line">
            <a:avLst/>
          </a:prstGeom>
          <a:noFill/>
          <a:ln w="6350">
            <a:solidFill>
              <a:srgbClr val="761DDB"/>
            </a:solidFill>
            <a:prstDash val="solid"/>
          </a:ln>
        </p:spPr>
        <p:txBody>
          <a:bodyPr/>
          <a:lstStyle/>
          <a:p>
            <a:endParaRPr lang="en-US"/>
          </a:p>
        </p:txBody>
      </p:sp>
      <p:pic>
        <p:nvPicPr>
          <p:cNvPr id="3" name="Image 0" descr="/private/tmp/claude-501/-Users-johnpb89-Desktop/751e14e8-de1e-42cb-8bce-61bc0e103cc2/scratchpad/rand/rand_logo.png"/>
          <p:cNvPicPr>
            <a:picLocks noChangeAspect="1"/>
          </p:cNvPicPr>
          <p:nvPr/>
        </p:nvPicPr>
        <p:blipFill>
          <a:blip r:embed="rId3"/>
          <a:stretch>
            <a:fillRect/>
          </a:stretch>
        </p:blipFill>
        <p:spPr>
          <a:xfrm>
            <a:off x="14621256" y="164592"/>
            <a:ext cx="457200" cy="457200"/>
          </a:xfrm>
          <a:prstGeom prst="rect">
            <a:avLst/>
          </a:prstGeom>
        </p:spPr>
      </p:pic>
      <p:sp>
        <p:nvSpPr>
          <p:cNvPr id="4" name="Text 1"/>
          <p:cNvSpPr txBox="1"/>
          <p:nvPr/>
        </p:nvSpPr>
        <p:spPr>
          <a:xfrm>
            <a:off x="457200" y="896112"/>
            <a:ext cx="13807440" cy="822960"/>
          </a:xfrm>
          <a:prstGeom prst="rect">
            <a:avLst/>
          </a:prstGeom>
          <a:noFill/>
          <a:ln/>
        </p:spPr>
        <p:txBody>
          <a:bodyPr wrap="square" lIns="0" tIns="0" rIns="0" bIns="0" rtlCol="0" anchor="t"/>
          <a:lstStyle/>
          <a:p>
            <a:pPr marL="0" indent="0">
              <a:buNone/>
            </a:pPr>
            <a:r>
              <a:rPr lang="en-US" sz="4000" dirty="0">
                <a:solidFill>
                  <a:srgbClr val="1C1C1E"/>
                </a:solidFill>
                <a:latin typeface="Georgia" pitchFamily="34" charset="0"/>
                <a:ea typeface="Georgia" pitchFamily="34" charset="-122"/>
                <a:cs typeface="Georgia" pitchFamily="34" charset="-120"/>
              </a:rPr>
              <a:t>What this means</a:t>
            </a:r>
            <a:endParaRPr lang="en-US" sz="4000" dirty="0"/>
          </a:p>
        </p:txBody>
      </p:sp>
      <p:sp>
        <p:nvSpPr>
          <p:cNvPr id="6" name="Shape 3"/>
          <p:cNvSpPr/>
          <p:nvPr/>
        </p:nvSpPr>
        <p:spPr>
          <a:xfrm>
            <a:off x="457200" y="8421624"/>
            <a:ext cx="3200400" cy="0"/>
          </a:xfrm>
          <a:prstGeom prst="line">
            <a:avLst/>
          </a:prstGeom>
          <a:noFill/>
          <a:ln w="9525">
            <a:solidFill>
              <a:srgbClr val="CFCAC4"/>
            </a:solidFill>
            <a:prstDash val="solid"/>
          </a:ln>
        </p:spPr>
        <p:txBody>
          <a:bodyPr/>
          <a:lstStyle/>
          <a:p>
            <a:endParaRPr lang="en-US"/>
          </a:p>
        </p:txBody>
      </p:sp>
      <p:sp>
        <p:nvSpPr>
          <p:cNvPr id="7" name="Text 4"/>
          <p:cNvSpPr txBox="1"/>
          <p:nvPr/>
        </p:nvSpPr>
        <p:spPr>
          <a:xfrm>
            <a:off x="457200"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LLM revealed preferences</a:t>
            </a:r>
            <a:endParaRPr lang="en-US" sz="1200" dirty="0"/>
          </a:p>
        </p:txBody>
      </p:sp>
      <p:sp>
        <p:nvSpPr>
          <p:cNvPr id="8" name="Shape 5"/>
          <p:cNvSpPr/>
          <p:nvPr/>
        </p:nvSpPr>
        <p:spPr>
          <a:xfrm>
            <a:off x="4270248" y="8421624"/>
            <a:ext cx="3200400" cy="0"/>
          </a:xfrm>
          <a:prstGeom prst="line">
            <a:avLst/>
          </a:prstGeom>
          <a:noFill/>
          <a:ln w="9525">
            <a:solidFill>
              <a:srgbClr val="CFCAC4"/>
            </a:solidFill>
            <a:prstDash val="solid"/>
          </a:ln>
        </p:spPr>
        <p:txBody>
          <a:bodyPr/>
          <a:lstStyle/>
          <a:p>
            <a:endParaRPr lang="en-US"/>
          </a:p>
        </p:txBody>
      </p:sp>
      <p:sp>
        <p:nvSpPr>
          <p:cNvPr id="9" name="Text 6"/>
          <p:cNvSpPr txBox="1"/>
          <p:nvPr/>
        </p:nvSpPr>
        <p:spPr>
          <a:xfrm>
            <a:off x="4270248"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Project overview</a:t>
            </a:r>
            <a:endParaRPr lang="en-US" sz="1200" dirty="0"/>
          </a:p>
        </p:txBody>
      </p:sp>
      <p:sp>
        <p:nvSpPr>
          <p:cNvPr id="10" name="Shape 7"/>
          <p:cNvSpPr/>
          <p:nvPr/>
        </p:nvSpPr>
        <p:spPr>
          <a:xfrm>
            <a:off x="8083296" y="8421624"/>
            <a:ext cx="3200400" cy="0"/>
          </a:xfrm>
          <a:prstGeom prst="line">
            <a:avLst/>
          </a:prstGeom>
          <a:noFill/>
          <a:ln w="9525">
            <a:solidFill>
              <a:srgbClr val="CFCAC4"/>
            </a:solidFill>
            <a:prstDash val="solid"/>
          </a:ln>
        </p:spPr>
        <p:txBody>
          <a:bodyPr/>
          <a:lstStyle/>
          <a:p>
            <a:endParaRPr lang="en-US"/>
          </a:p>
        </p:txBody>
      </p:sp>
      <p:sp>
        <p:nvSpPr>
          <p:cNvPr id="11" name="Text 8"/>
          <p:cNvSpPr txBox="1"/>
          <p:nvPr/>
        </p:nvSpPr>
        <p:spPr>
          <a:xfrm>
            <a:off x="8083296"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October 2026</a:t>
            </a:r>
            <a:endParaRPr lang="en-US" sz="1200" dirty="0"/>
          </a:p>
        </p:txBody>
      </p:sp>
      <p:sp>
        <p:nvSpPr>
          <p:cNvPr id="12" name="Shape 9"/>
          <p:cNvSpPr/>
          <p:nvPr/>
        </p:nvSpPr>
        <p:spPr>
          <a:xfrm>
            <a:off x="11896344" y="8421624"/>
            <a:ext cx="3200400" cy="0"/>
          </a:xfrm>
          <a:prstGeom prst="line">
            <a:avLst/>
          </a:prstGeom>
          <a:noFill/>
          <a:ln w="9525">
            <a:solidFill>
              <a:srgbClr val="CFCAC4"/>
            </a:solidFill>
            <a:prstDash val="solid"/>
          </a:ln>
        </p:spPr>
        <p:txBody>
          <a:bodyPr/>
          <a:lstStyle/>
          <a:p>
            <a:endParaRPr lang="en-US"/>
          </a:p>
        </p:txBody>
      </p:sp>
      <p:sp>
        <p:nvSpPr>
          <p:cNvPr id="13" name="Text 10"/>
          <p:cNvSpPr txBox="1"/>
          <p:nvPr/>
        </p:nvSpPr>
        <p:spPr>
          <a:xfrm>
            <a:off x="11896344"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7 slides</a:t>
            </a:r>
            <a:endParaRPr lang="en-US" sz="1200" dirty="0"/>
          </a:p>
        </p:txBody>
      </p:sp>
      <p:sp>
        <p:nvSpPr>
          <p:cNvPr id="17" name="Shape 14"/>
          <p:cNvSpPr/>
          <p:nvPr/>
        </p:nvSpPr>
        <p:spPr>
          <a:xfrm>
            <a:off x="13395960" y="9528048"/>
            <a:ext cx="182880" cy="182880"/>
          </a:xfrm>
          <a:prstGeom prst="ellipse">
            <a:avLst/>
          </a:prstGeom>
          <a:solidFill>
            <a:srgbClr val="761DDB">
              <a:alpha val="22000"/>
            </a:srgbClr>
          </a:solidFill>
          <a:ln/>
        </p:spPr>
        <p:txBody>
          <a:bodyPr/>
          <a:lstStyle/>
          <a:p>
            <a:endParaRPr lang="en-US"/>
          </a:p>
        </p:txBody>
      </p:sp>
      <p:sp>
        <p:nvSpPr>
          <p:cNvPr id="18" name="Shape 15"/>
          <p:cNvSpPr/>
          <p:nvPr/>
        </p:nvSpPr>
        <p:spPr>
          <a:xfrm>
            <a:off x="13651992" y="9528048"/>
            <a:ext cx="182880" cy="182880"/>
          </a:xfrm>
          <a:prstGeom prst="ellipse">
            <a:avLst/>
          </a:prstGeom>
          <a:solidFill>
            <a:srgbClr val="761DDB">
              <a:alpha val="22000"/>
            </a:srgbClr>
          </a:solidFill>
          <a:ln/>
        </p:spPr>
        <p:txBody>
          <a:bodyPr/>
          <a:lstStyle/>
          <a:p>
            <a:endParaRPr lang="en-US"/>
          </a:p>
        </p:txBody>
      </p:sp>
      <p:sp>
        <p:nvSpPr>
          <p:cNvPr id="19" name="Shape 16"/>
          <p:cNvSpPr/>
          <p:nvPr/>
        </p:nvSpPr>
        <p:spPr>
          <a:xfrm>
            <a:off x="13908024" y="9528048"/>
            <a:ext cx="182880" cy="182880"/>
          </a:xfrm>
          <a:prstGeom prst="ellipse">
            <a:avLst/>
          </a:prstGeom>
          <a:solidFill>
            <a:srgbClr val="761DDB">
              <a:alpha val="22000"/>
            </a:srgbClr>
          </a:solidFill>
          <a:ln/>
        </p:spPr>
        <p:txBody>
          <a:bodyPr/>
          <a:lstStyle/>
          <a:p>
            <a:endParaRPr lang="en-US"/>
          </a:p>
        </p:txBody>
      </p:sp>
      <p:sp>
        <p:nvSpPr>
          <p:cNvPr id="20" name="Shape 17"/>
          <p:cNvSpPr/>
          <p:nvPr/>
        </p:nvSpPr>
        <p:spPr>
          <a:xfrm>
            <a:off x="14164056" y="9528048"/>
            <a:ext cx="182880" cy="182880"/>
          </a:xfrm>
          <a:prstGeom prst="ellipse">
            <a:avLst/>
          </a:prstGeom>
          <a:solidFill>
            <a:srgbClr val="761DDB">
              <a:alpha val="22000"/>
            </a:srgbClr>
          </a:solidFill>
          <a:ln/>
        </p:spPr>
        <p:txBody>
          <a:bodyPr/>
          <a:lstStyle/>
          <a:p>
            <a:endParaRPr lang="en-US"/>
          </a:p>
        </p:txBody>
      </p:sp>
      <p:sp>
        <p:nvSpPr>
          <p:cNvPr id="21" name="Shape 18"/>
          <p:cNvSpPr/>
          <p:nvPr/>
        </p:nvSpPr>
        <p:spPr>
          <a:xfrm>
            <a:off x="14420088" y="9528048"/>
            <a:ext cx="182880" cy="182880"/>
          </a:xfrm>
          <a:prstGeom prst="ellipse">
            <a:avLst/>
          </a:prstGeom>
          <a:solidFill>
            <a:srgbClr val="761DDB">
              <a:alpha val="22000"/>
            </a:srgbClr>
          </a:solidFill>
          <a:ln/>
        </p:spPr>
        <p:txBody>
          <a:bodyPr/>
          <a:lstStyle/>
          <a:p>
            <a:endParaRPr lang="en-US"/>
          </a:p>
        </p:txBody>
      </p:sp>
      <p:sp>
        <p:nvSpPr>
          <p:cNvPr id="22" name="Shape 19"/>
          <p:cNvSpPr/>
          <p:nvPr/>
        </p:nvSpPr>
        <p:spPr>
          <a:xfrm>
            <a:off x="14676120" y="9528048"/>
            <a:ext cx="182880" cy="182880"/>
          </a:xfrm>
          <a:prstGeom prst="ellipse">
            <a:avLst/>
          </a:prstGeom>
          <a:solidFill>
            <a:srgbClr val="761DDB">
              <a:alpha val="22000"/>
            </a:srgbClr>
          </a:solidFill>
          <a:ln/>
        </p:spPr>
        <p:txBody>
          <a:bodyPr/>
          <a:lstStyle/>
          <a:p>
            <a:endParaRPr lang="en-US"/>
          </a:p>
        </p:txBody>
      </p:sp>
      <p:sp>
        <p:nvSpPr>
          <p:cNvPr id="23" name="Shape 20"/>
          <p:cNvSpPr/>
          <p:nvPr/>
        </p:nvSpPr>
        <p:spPr>
          <a:xfrm>
            <a:off x="14932152" y="9528048"/>
            <a:ext cx="182880" cy="182880"/>
          </a:xfrm>
          <a:prstGeom prst="ellipse">
            <a:avLst/>
          </a:prstGeom>
          <a:solidFill>
            <a:srgbClr val="761DDB"/>
          </a:solidFill>
          <a:ln/>
        </p:spPr>
        <p:txBody>
          <a:bodyPr/>
          <a:lstStyle/>
          <a:p>
            <a:endParaRPr lang="en-US"/>
          </a:p>
        </p:txBody>
      </p:sp>
      <p:sp>
        <p:nvSpPr>
          <p:cNvPr id="24" name="Shape 21"/>
          <p:cNvSpPr/>
          <p:nvPr/>
        </p:nvSpPr>
        <p:spPr>
          <a:xfrm>
            <a:off x="457200" y="2606040"/>
            <a:ext cx="7086600" cy="0"/>
          </a:xfrm>
          <a:prstGeom prst="line">
            <a:avLst/>
          </a:prstGeom>
          <a:noFill/>
          <a:ln w="12700">
            <a:solidFill>
              <a:srgbClr val="761DDB"/>
            </a:solidFill>
            <a:prstDash val="solid"/>
          </a:ln>
        </p:spPr>
        <p:txBody>
          <a:bodyPr/>
          <a:lstStyle/>
          <a:p>
            <a:endParaRPr lang="en-US"/>
          </a:p>
        </p:txBody>
      </p:sp>
      <p:sp>
        <p:nvSpPr>
          <p:cNvPr id="25" name="Text 22"/>
          <p:cNvSpPr txBox="1"/>
          <p:nvPr/>
        </p:nvSpPr>
        <p:spPr>
          <a:xfrm>
            <a:off x="457200" y="2788920"/>
            <a:ext cx="7086600" cy="685800"/>
          </a:xfrm>
          <a:prstGeom prst="rect">
            <a:avLst/>
          </a:prstGeom>
          <a:noFill/>
          <a:ln/>
        </p:spPr>
        <p:txBody>
          <a:bodyPr wrap="square" lIns="0" tIns="0" rIns="0" bIns="0" rtlCol="0" anchor="t"/>
          <a:lstStyle/>
          <a:p>
            <a:pPr marL="0" indent="0">
              <a:lnSpc>
                <a:spcPct val="115000"/>
              </a:lnSpc>
              <a:buNone/>
            </a:pPr>
            <a:r>
              <a:rPr lang="en-US" sz="2400" dirty="0">
                <a:solidFill>
                  <a:srgbClr val="1C1C1E"/>
                </a:solidFill>
                <a:latin typeface="Georgia" pitchFamily="34" charset="0"/>
                <a:ea typeface="Georgia" pitchFamily="34" charset="-122"/>
                <a:cs typeface="Georgia" pitchFamily="34" charset="-120"/>
              </a:rPr>
              <a:t>Look at fine-tuning</a:t>
            </a:r>
            <a:endParaRPr lang="en-US" sz="2400" dirty="0"/>
          </a:p>
        </p:txBody>
      </p:sp>
      <p:sp>
        <p:nvSpPr>
          <p:cNvPr id="26" name="Text 23"/>
          <p:cNvSpPr txBox="1"/>
          <p:nvPr/>
        </p:nvSpPr>
        <p:spPr>
          <a:xfrm>
            <a:off x="457200" y="3657600"/>
            <a:ext cx="7086600" cy="1554480"/>
          </a:xfrm>
          <a:prstGeom prst="rect">
            <a:avLst/>
          </a:prstGeom>
          <a:noFill/>
          <a:ln/>
        </p:spPr>
        <p:txBody>
          <a:bodyPr wrap="square" lIns="0" tIns="0" rIns="0" bIns="0" rtlCol="0" anchor="t"/>
          <a:lstStyle/>
          <a:p>
            <a:pPr marL="0" indent="0">
              <a:lnSpc>
                <a:spcPct val="140000"/>
              </a:lnSpc>
              <a:buNone/>
            </a:pPr>
            <a:r>
              <a:rPr lang="en-US" sz="1600" dirty="0">
                <a:solidFill>
                  <a:srgbClr val="1C1C1E"/>
                </a:solidFill>
                <a:latin typeface="Helvetica Neue" pitchFamily="34" charset="0"/>
                <a:ea typeface="Helvetica Neue" pitchFamily="34" charset="-122"/>
                <a:cs typeface="Helvetica Neue" pitchFamily="34" charset="-120"/>
              </a:rPr>
              <a:t>Most of the snap-answer profile is in place after supervised fine-tuning, the first assistant-training step. An audit that starts at preference training starts late.</a:t>
            </a:r>
            <a:endParaRPr lang="en-US" sz="1600" dirty="0"/>
          </a:p>
        </p:txBody>
      </p:sp>
      <p:sp>
        <p:nvSpPr>
          <p:cNvPr id="27" name="Shape 24"/>
          <p:cNvSpPr/>
          <p:nvPr/>
        </p:nvSpPr>
        <p:spPr>
          <a:xfrm>
            <a:off x="8001000" y="2606040"/>
            <a:ext cx="7086600" cy="0"/>
          </a:xfrm>
          <a:prstGeom prst="line">
            <a:avLst/>
          </a:prstGeom>
          <a:noFill/>
          <a:ln w="12700">
            <a:solidFill>
              <a:srgbClr val="761DDB"/>
            </a:solidFill>
            <a:prstDash val="solid"/>
          </a:ln>
        </p:spPr>
        <p:txBody>
          <a:bodyPr/>
          <a:lstStyle/>
          <a:p>
            <a:endParaRPr lang="en-US"/>
          </a:p>
        </p:txBody>
      </p:sp>
      <p:sp>
        <p:nvSpPr>
          <p:cNvPr id="28" name="Text 25"/>
          <p:cNvSpPr txBox="1"/>
          <p:nvPr/>
        </p:nvSpPr>
        <p:spPr>
          <a:xfrm>
            <a:off x="8001000" y="2788920"/>
            <a:ext cx="7086600" cy="685800"/>
          </a:xfrm>
          <a:prstGeom prst="rect">
            <a:avLst/>
          </a:prstGeom>
          <a:noFill/>
          <a:ln/>
        </p:spPr>
        <p:txBody>
          <a:bodyPr wrap="square" lIns="0" tIns="0" rIns="0" bIns="0" rtlCol="0" anchor="t"/>
          <a:lstStyle/>
          <a:p>
            <a:pPr marL="0" indent="0">
              <a:lnSpc>
                <a:spcPct val="115000"/>
              </a:lnSpc>
              <a:buNone/>
            </a:pPr>
            <a:r>
              <a:rPr lang="en-US" sz="2400" dirty="0">
                <a:solidFill>
                  <a:srgbClr val="1C1C1E"/>
                </a:solidFill>
                <a:latin typeface="Georgia" pitchFamily="34" charset="0"/>
                <a:ea typeface="Georgia" pitchFamily="34" charset="-122"/>
                <a:cs typeface="Georgia" pitchFamily="34" charset="-120"/>
              </a:rPr>
              <a:t>Say which mode you measured</a:t>
            </a:r>
            <a:endParaRPr lang="en-US" sz="2400" dirty="0"/>
          </a:p>
        </p:txBody>
      </p:sp>
      <p:sp>
        <p:nvSpPr>
          <p:cNvPr id="29" name="Text 26"/>
          <p:cNvSpPr txBox="1"/>
          <p:nvPr/>
        </p:nvSpPr>
        <p:spPr>
          <a:xfrm>
            <a:off x="8001000" y="3657600"/>
            <a:ext cx="7086600" cy="1554480"/>
          </a:xfrm>
          <a:prstGeom prst="rect">
            <a:avLst/>
          </a:prstGeom>
          <a:noFill/>
          <a:ln/>
        </p:spPr>
        <p:txBody>
          <a:bodyPr wrap="square" lIns="0" tIns="0" rIns="0" bIns="0" rtlCol="0" anchor="t"/>
          <a:lstStyle/>
          <a:p>
            <a:pPr marL="0" indent="0">
              <a:lnSpc>
                <a:spcPct val="140000"/>
              </a:lnSpc>
              <a:buNone/>
            </a:pPr>
            <a:r>
              <a:rPr lang="en-US" sz="1600" dirty="0">
                <a:solidFill>
                  <a:srgbClr val="1C1C1E"/>
                </a:solidFill>
                <a:latin typeface="Helvetica Neue" pitchFamily="34" charset="0"/>
                <a:ea typeface="Helvetica Neue" pitchFamily="34" charset="-122"/>
                <a:cs typeface="Helvetica Neue" pitchFamily="34" charset="-120"/>
              </a:rPr>
              <a:t>Preference training reshapes how a model reasons and leaves its snap-answer preferences where they were. A bias found in one mode can vanish or reverse in the other.</a:t>
            </a:r>
            <a:endParaRPr lang="en-US" sz="1600" dirty="0"/>
          </a:p>
        </p:txBody>
      </p:sp>
      <p:sp>
        <p:nvSpPr>
          <p:cNvPr id="30" name="Shape 27"/>
          <p:cNvSpPr/>
          <p:nvPr/>
        </p:nvSpPr>
        <p:spPr>
          <a:xfrm>
            <a:off x="457200" y="5440680"/>
            <a:ext cx="7086600" cy="0"/>
          </a:xfrm>
          <a:prstGeom prst="line">
            <a:avLst/>
          </a:prstGeom>
          <a:noFill/>
          <a:ln w="12700">
            <a:solidFill>
              <a:srgbClr val="761DDB"/>
            </a:solidFill>
            <a:prstDash val="solid"/>
          </a:ln>
        </p:spPr>
        <p:txBody>
          <a:bodyPr/>
          <a:lstStyle/>
          <a:p>
            <a:endParaRPr lang="en-US"/>
          </a:p>
        </p:txBody>
      </p:sp>
      <p:sp>
        <p:nvSpPr>
          <p:cNvPr id="31" name="Text 28"/>
          <p:cNvSpPr txBox="1"/>
          <p:nvPr/>
        </p:nvSpPr>
        <p:spPr>
          <a:xfrm>
            <a:off x="457200" y="5623560"/>
            <a:ext cx="7086600" cy="685800"/>
          </a:xfrm>
          <a:prstGeom prst="rect">
            <a:avLst/>
          </a:prstGeom>
          <a:noFill/>
          <a:ln/>
        </p:spPr>
        <p:txBody>
          <a:bodyPr wrap="square" lIns="0" tIns="0" rIns="0" bIns="0" rtlCol="0" anchor="t"/>
          <a:lstStyle/>
          <a:p>
            <a:pPr marL="0" indent="0">
              <a:lnSpc>
                <a:spcPct val="115000"/>
              </a:lnSpc>
              <a:buNone/>
            </a:pPr>
            <a:r>
              <a:rPr lang="en-US" sz="2400" dirty="0">
                <a:solidFill>
                  <a:srgbClr val="1C1C1E"/>
                </a:solidFill>
                <a:latin typeface="Georgia" pitchFamily="34" charset="0"/>
                <a:ea typeface="Georgia" pitchFamily="34" charset="-122"/>
                <a:cs typeface="Georgia" pitchFamily="34" charset="-120"/>
              </a:rPr>
              <a:t>Check that the subject is awake</a:t>
            </a:r>
            <a:endParaRPr lang="en-US" sz="2400" dirty="0"/>
          </a:p>
        </p:txBody>
      </p:sp>
      <p:sp>
        <p:nvSpPr>
          <p:cNvPr id="32" name="Text 29"/>
          <p:cNvSpPr txBox="1"/>
          <p:nvPr/>
        </p:nvSpPr>
        <p:spPr>
          <a:xfrm>
            <a:off x="457200" y="6492240"/>
            <a:ext cx="7086600" cy="1554480"/>
          </a:xfrm>
          <a:prstGeom prst="rect">
            <a:avLst/>
          </a:prstGeom>
          <a:noFill/>
          <a:ln/>
        </p:spPr>
        <p:txBody>
          <a:bodyPr wrap="square" lIns="0" tIns="0" rIns="0" bIns="0" rtlCol="0" anchor="t"/>
          <a:lstStyle/>
          <a:p>
            <a:pPr marL="0" indent="0">
              <a:lnSpc>
                <a:spcPct val="140000"/>
              </a:lnSpc>
              <a:buNone/>
            </a:pPr>
            <a:r>
              <a:rPr lang="en-US" sz="1600" dirty="0">
                <a:solidFill>
                  <a:srgbClr val="1C1C1E"/>
                </a:solidFill>
                <a:latin typeface="Helvetica Neue" pitchFamily="34" charset="0"/>
                <a:ea typeface="Helvetica Neue" pitchFamily="34" charset="-122"/>
                <a:cs typeface="Helvetica Neue" pitchFamily="34" charset="-120"/>
              </a:rPr>
              <a:t>A model can return confident answers while failing to prefer $70 to $50. Eighty free-money questions catch it, and cost almost nothing to run.</a:t>
            </a:r>
            <a:endParaRPr lang="en-US" sz="1600" dirty="0"/>
          </a:p>
        </p:txBody>
      </p:sp>
      <p:sp>
        <p:nvSpPr>
          <p:cNvPr id="33" name="Shape 30"/>
          <p:cNvSpPr/>
          <p:nvPr/>
        </p:nvSpPr>
        <p:spPr>
          <a:xfrm>
            <a:off x="8001000" y="5440680"/>
            <a:ext cx="7086600" cy="0"/>
          </a:xfrm>
          <a:prstGeom prst="line">
            <a:avLst/>
          </a:prstGeom>
          <a:noFill/>
          <a:ln w="12700">
            <a:solidFill>
              <a:srgbClr val="761DDB"/>
            </a:solidFill>
            <a:prstDash val="solid"/>
          </a:ln>
        </p:spPr>
        <p:txBody>
          <a:bodyPr/>
          <a:lstStyle/>
          <a:p>
            <a:endParaRPr lang="en-US"/>
          </a:p>
        </p:txBody>
      </p:sp>
      <p:sp>
        <p:nvSpPr>
          <p:cNvPr id="34" name="Text 31"/>
          <p:cNvSpPr txBox="1"/>
          <p:nvPr/>
        </p:nvSpPr>
        <p:spPr>
          <a:xfrm>
            <a:off x="8001000" y="5623560"/>
            <a:ext cx="7086600" cy="685800"/>
          </a:xfrm>
          <a:prstGeom prst="rect">
            <a:avLst/>
          </a:prstGeom>
          <a:noFill/>
          <a:ln/>
        </p:spPr>
        <p:txBody>
          <a:bodyPr wrap="square" lIns="0" tIns="0" rIns="0" bIns="0" rtlCol="0" anchor="t"/>
          <a:lstStyle/>
          <a:p>
            <a:pPr marL="0" indent="0">
              <a:lnSpc>
                <a:spcPct val="115000"/>
              </a:lnSpc>
              <a:buNone/>
            </a:pPr>
            <a:r>
              <a:rPr lang="en-US" sz="2400" dirty="0">
                <a:solidFill>
                  <a:srgbClr val="1C1C1E"/>
                </a:solidFill>
                <a:latin typeface="Georgia" pitchFamily="34" charset="0"/>
                <a:ea typeface="Georgia" pitchFamily="34" charset="-122"/>
                <a:cs typeface="Georgia" pitchFamily="34" charset="-120"/>
              </a:rPr>
              <a:t>What comes next</a:t>
            </a:r>
            <a:endParaRPr lang="en-US" sz="2400" dirty="0"/>
          </a:p>
        </p:txBody>
      </p:sp>
      <p:sp>
        <p:nvSpPr>
          <p:cNvPr id="35" name="Text 32"/>
          <p:cNvSpPr txBox="1"/>
          <p:nvPr/>
        </p:nvSpPr>
        <p:spPr>
          <a:xfrm>
            <a:off x="8001000" y="6492240"/>
            <a:ext cx="7086600" cy="1554480"/>
          </a:xfrm>
          <a:prstGeom prst="rect">
            <a:avLst/>
          </a:prstGeom>
          <a:noFill/>
          <a:ln/>
        </p:spPr>
        <p:txBody>
          <a:bodyPr wrap="square" lIns="0" tIns="0" rIns="0" bIns="0" rtlCol="0" anchor="t"/>
          <a:lstStyle/>
          <a:p>
            <a:pPr marL="0" indent="0">
              <a:lnSpc>
                <a:spcPct val="140000"/>
              </a:lnSpc>
              <a:buNone/>
            </a:pPr>
            <a:r>
              <a:rPr lang="en-US" sz="1600" dirty="0">
                <a:solidFill>
                  <a:srgbClr val="1C1C1E"/>
                </a:solidFill>
                <a:latin typeface="Helvetica Neue" pitchFamily="34" charset="0"/>
                <a:ea typeface="Helvetica Neue" pitchFamily="34" charset="-122"/>
                <a:cs typeface="Helvetica Neue" pitchFamily="34" charset="-120"/>
              </a:rPr>
              <a:t>Pay the model while it reasons. Ask whether models favor their own family, and whether these risk habits carry into the advice they give commanders and officials.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2597</Words>
  <Application>Microsoft Macintosh PowerPoint</Application>
  <PresentationFormat>Custom</PresentationFormat>
  <Paragraphs>119</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Courier New</vt:lpstr>
      <vt:lpstr>Georgia</vt:lpstr>
      <vt:lpstr>Helvetica Neue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RAND School of Public Policy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Phase 3 Findings</dc:title>
  <dc:subject>PptxGenJS Presentation</dc:subject>
  <dc:creator>J. Blakeslee</dc:creator>
  <cp:lastModifiedBy>John Blakeslee</cp:lastModifiedBy>
  <cp:revision>2</cp:revision>
  <dcterms:created xsi:type="dcterms:W3CDTF">2026-09-02T02:29:14Z</dcterms:created>
  <dcterms:modified xsi:type="dcterms:W3CDTF">2026-09-02T16:48:09Z</dcterms:modified>
</cp:coreProperties>
</file>