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5544800" cy="10058400"/>
  <p:notesSz cx="10058400" cy="155448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question on the screen and give people a beat to answer it in their heads. This is a standard laboratory economics question, the kind run on human subjects since the 1970s to measure how people handle risk. We asked AI models thousands of these, then traced the answers back through each model's training history. The headline, which I will spend the next nine minutes earning: almost everything about how these models handle money appears at one specific training step, and it is the first and simplest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this is worth an afternoon. First, these systems are already inside economic decisions, and one that quietly prefers certainty to expected value will bias every recommendation it makes. Second, we do not have to ask a model what it values. Economics has a mature toolkit for reading preferences out of choices, and it works on a model exactly as it works on a person. Third, and this is the gap Phase 3 fills, everyone tests the finished product. Nobody opens the box and asks which manufacturing step put the behavior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is a grid of 1,680 questions: forty gambles, each rewritten five ways, each shown in both orders, each posed once as a gain and once as a loss. Because the wording is fixed and only one feature moves at a time, any change in behavior traces to that one feature. The efficiency trick is that we do not sample answers. We read the model's answer directly from its internal probabilities, so a single pass gives the exact answer instead of an estimate from twenty-five repeated tries. Eighty of the questions are pure free money, and those turn out to matter more than anything else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 model is trained to behave like an assistant, it is a text-continuation engine. It will answer A or B with total confidence and no hesitation. Offer it a sure fifty dollars against a sure seventy and it takes the seventy about as often as a coin flip: 55.5 percent for OLMo, 62.3 for Llama, 63.9 for Qwen. That is the reframe the whole project turns on. A base model does not have strange preferences, it has no usable preferences at all, and any number fitted to its choices describes randomness rather than taste. So whatever economic behavior we measure later was installed by training, not inherited from the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finding. OLMo-2 is the only family that publishes a snapshot after each stage of training, so we asked the same questions at four points in one model's life. Almost everything moves at the first step. Free-money accuracy climbs from 55.5 to 75.6 percent, and sensitivity to how a bet is worded more than doubles. The two later stages, the ones built on comparisons of human preferences, tighten accuracy on the easy questions and leave the economic behavior where fine-tuning put it. That is a surprise, because human feedback enters at those later stages, and they are the ones people blame when a model shows a human-like bias. Here the bias is already in place before that stage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a control that turned into a finding. Every finished assistant was asked the same questions two ways: as a chat message, and as a raw fill-in-the-blank completion. Qwen is a sensible economic subject in chat and collapses into near-total refusal to gamble in the other format. OLMo does exactly the reverse. Llama is steady in both. So a study comparing two models under one fixed format may be comparing an engaged subject against one that has checked out. The fix is cheap: before you analyze anything, confirm the model reliably picks seventy dollars over fifty. If it does not, the rest of its answers are not preferences.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Phase 2 we found that Claude Haiku becomes much more cautious when the downside of a bet is called a loss, which runs against the textbook prospect-theory direction. Every open model here does something different. Qwen becomes dramatically more willing to gamble, by 62.6 points. OLMo moves 34.9 points the same way. Llama hardly notices. The bets are arithmetically identical. The only thing that changes is the wording. Four systems, four responses. Anyone who reports a framing bias from one model and calls it a fact about language models is reporting a fact about that model's training recipe.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Phil Armour, our reviewer, pointed at a standard move in experimental economics. Rather than guess what a subject wants, you tell the subject what to want and check whether it complies. We instructed the models in plain language: multiply the payoff by the probability and take the larger number. The bars show what happened. Compliance never rises above about 55 percent at any training stage, close to a coin flip. The black line is the same instruction on questions where following it needs no arithmetic at all, and there compliance reaches 100 percent. Asked for a harder rule involving a square root, one model's compliance fell to 12 percent with a legible error: it compared the transformed payoffs and dropped the probability entirely. These models are not refusing. They cannot run the arithmetic in a format that demands an immediate one-letter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The framing bias belongs to a training recipe rather than to AI as a technology, so a result measured on one model does not transfer to another by assumption. If the behavior is installed at supervised fine-tuning, the supervised data and the checkpoint right after it are the place to inspect and correct it, and that is not where the attention currently goes. Any evaluation of an AI's economic behavior needs an engagement check reported alongside the headline, for the same reason a survey reports its response rate. And you cannot instruct your way out of a trained disposition, at least not in this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follow-ups, and the first matters most because it tests the ceiling this phase ran into. Let the model reason before it answers, and we find out whether the arithmetic failure was inability or format. Second, make the payoffs real by denominating them in a computation budget the model spends, which is the piece that makes the induced-value method work on human subjects. Third, the same instrument measures social preferences, so the fall project asks whether models cooperate more readily with counterparts they take to be their own kind.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11430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438376" y="320040"/>
            <a:ext cx="640080" cy="640080"/>
          </a:xfrm>
          <a:prstGeom prst="rect">
            <a:avLst/>
          </a:prstGeom>
        </p:spPr>
      </p:pic>
      <p:sp>
        <p:nvSpPr>
          <p:cNvPr id="4" name="Text 1"/>
          <p:cNvSpPr txBox="1"/>
          <p:nvPr/>
        </p:nvSpPr>
        <p:spPr>
          <a:xfrm>
            <a:off x="457200" y="2057400"/>
            <a:ext cx="14447520" cy="1188720"/>
          </a:xfrm>
          <a:prstGeom prst="rect">
            <a:avLst/>
          </a:prstGeom>
          <a:noFill/>
          <a:ln/>
        </p:spPr>
        <p:txBody>
          <a:bodyPr wrap="square" lIns="0" tIns="0" rIns="0" bIns="0" rtlCol="0" anchor="t"/>
          <a:lstStyle/>
          <a:p>
            <a:pPr indent="0" marL="0">
              <a:buNone/>
            </a:pPr>
            <a:r>
              <a:rPr lang="en-US" sz="5400" dirty="0">
                <a:solidFill>
                  <a:srgbClr val="1C1C1E"/>
                </a:solidFill>
                <a:latin typeface="Georgia" pitchFamily="34" charset="0"/>
                <a:ea typeface="Georgia" pitchFamily="34" charset="-122"/>
                <a:cs typeface="Georgia" pitchFamily="34" charset="-120"/>
              </a:rPr>
              <a:t>A sure $86, or a 43% shot at $210?</a:t>
            </a:r>
            <a:endParaRPr lang="en-US" sz="5400" dirty="0"/>
          </a:p>
        </p:txBody>
      </p:sp>
      <p:sp>
        <p:nvSpPr>
          <p:cNvPr id="5" name="Text 2"/>
          <p:cNvSpPr txBox="1"/>
          <p:nvPr/>
        </p:nvSpPr>
        <p:spPr>
          <a:xfrm>
            <a:off x="457200" y="3703320"/>
            <a:ext cx="12070080" cy="868680"/>
          </a:xfrm>
          <a:prstGeom prst="rect">
            <a:avLst/>
          </a:prstGeom>
          <a:noFill/>
          <a:ln/>
        </p:spPr>
        <p:txBody>
          <a:bodyPr wrap="square" lIns="0" tIns="0" rIns="0" bIns="0" rtlCol="0" anchor="t"/>
          <a:lstStyle/>
          <a:p>
            <a:pPr indent="0" marL="0">
              <a:lnSpc>
                <a:spcPct val="130000"/>
              </a:lnSpc>
              <a:buNone/>
            </a:pPr>
            <a:r>
              <a:rPr lang="en-US" sz="2100" dirty="0">
                <a:solidFill>
                  <a:srgbClr val="761DDB"/>
                </a:solidFill>
                <a:latin typeface="Helvetica Neue" pitchFamily="34" charset="0"/>
                <a:ea typeface="Helvetica Neue" pitchFamily="34" charset="-122"/>
                <a:cs typeface="Helvetica Neue" pitchFamily="34" charset="-120"/>
              </a:rPr>
              <a:t>We put that question to AI models 1,680 times each, across three model families.</a:t>
            </a:r>
            <a:endParaRPr lang="en-US" sz="2100" dirty="0"/>
          </a:p>
        </p:txBody>
      </p:sp>
      <p:sp>
        <p:nvSpPr>
          <p:cNvPr id="6" name="Text 3"/>
          <p:cNvSpPr txBox="1"/>
          <p:nvPr/>
        </p:nvSpPr>
        <p:spPr>
          <a:xfrm>
            <a:off x="457200" y="5120640"/>
            <a:ext cx="13716000" cy="914400"/>
          </a:xfrm>
          <a:prstGeom prst="rect">
            <a:avLst/>
          </a:prstGeom>
          <a:noFill/>
          <a:ln/>
        </p:spPr>
        <p:txBody>
          <a:bodyPr wrap="square" lIns="0" tIns="0" rIns="0" bIns="0" rtlCol="0" anchor="t"/>
          <a:lstStyle/>
          <a:p>
            <a:pPr indent="0" marL="0">
              <a:buNone/>
            </a:pPr>
            <a:r>
              <a:rPr lang="en-US" sz="3400" dirty="0">
                <a:solidFill>
                  <a:srgbClr val="1C1C1E"/>
                </a:solidFill>
                <a:latin typeface="Georgia" pitchFamily="34" charset="0"/>
                <a:ea typeface="Georgia" pitchFamily="34" charset="-122"/>
                <a:cs typeface="Georgia" pitchFamily="34" charset="-120"/>
              </a:rPr>
              <a:t>The money personality arrives at one training step.</a:t>
            </a:r>
            <a:endParaRPr lang="en-US" sz="3400" dirty="0"/>
          </a:p>
        </p:txBody>
      </p:sp>
      <p:sp>
        <p:nvSpPr>
          <p:cNvPr id="7" name="Text 4"/>
          <p:cNvSpPr txBox="1"/>
          <p:nvPr/>
        </p:nvSpPr>
        <p:spPr>
          <a:xfrm>
            <a:off x="457200" y="6858000"/>
            <a:ext cx="9144000" cy="365760"/>
          </a:xfrm>
          <a:prstGeom prst="rect">
            <a:avLst/>
          </a:prstGeom>
          <a:noFill/>
          <a:ln/>
        </p:spPr>
        <p:txBody>
          <a:bodyPr wrap="square" lIns="0" tIns="0" rIns="0" bIns="0" rtlCol="0" anchor="t"/>
          <a:lstStyle/>
          <a:p>
            <a:pPr indent="0" marL="0">
              <a:buNone/>
            </a:pPr>
            <a:r>
              <a:rPr lang="en-US" sz="1700" dirty="0">
                <a:solidFill>
                  <a:srgbClr val="1C1C1E"/>
                </a:solidFill>
                <a:latin typeface="Helvetica Neue" pitchFamily="34" charset="0"/>
                <a:ea typeface="Helvetica Neue" pitchFamily="34" charset="-122"/>
                <a:cs typeface="Helvetica Neue" pitchFamily="34" charset="-120"/>
              </a:rPr>
              <a:t>John Blakeslee</a:t>
            </a:r>
            <a:endParaRPr lang="en-US" sz="1700" dirty="0"/>
          </a:p>
        </p:txBody>
      </p:sp>
      <p:sp>
        <p:nvSpPr>
          <p:cNvPr id="8" name="Text 5"/>
          <p:cNvSpPr txBox="1"/>
          <p:nvPr/>
        </p:nvSpPr>
        <p:spPr>
          <a:xfrm>
            <a:off x="457200" y="7242048"/>
            <a:ext cx="9144000" cy="365760"/>
          </a:xfrm>
          <a:prstGeom prst="rect">
            <a:avLst/>
          </a:prstGeom>
          <a:noFill/>
          <a:ln/>
        </p:spPr>
        <p:txBody>
          <a:bodyPr wrap="square" lIns="0" tIns="0" rIns="0" bIns="0" rtlCol="0" anchor="t"/>
          <a:lstStyle/>
          <a:p>
            <a:pPr indent="0" marL="0">
              <a:buNone/>
            </a:pPr>
            <a:r>
              <a:rPr lang="en-US" sz="1700" dirty="0">
                <a:solidFill>
                  <a:srgbClr val="6E6862"/>
                </a:solidFill>
                <a:latin typeface="Helvetica Neue" pitchFamily="34" charset="0"/>
                <a:ea typeface="Helvetica Neue" pitchFamily="34" charset="-122"/>
                <a:cs typeface="Helvetica Neue" pitchFamily="34" charset="-120"/>
              </a:rPr>
              <a:t>RAND School of Public Policy, AI Sprint Practicum</a:t>
            </a:r>
            <a:endParaRPr lang="en-US" sz="1700" dirty="0"/>
          </a:p>
        </p:txBody>
      </p:sp>
      <p:sp>
        <p:nvSpPr>
          <p:cNvPr id="9" name="Shape 6"/>
          <p:cNvSpPr/>
          <p:nvPr/>
        </p:nvSpPr>
        <p:spPr>
          <a:xfrm>
            <a:off x="457200" y="8421624"/>
            <a:ext cx="3200400" cy="0"/>
          </a:xfrm>
          <a:prstGeom prst="line">
            <a:avLst/>
          </a:prstGeom>
          <a:noFill/>
          <a:ln w="9525">
            <a:solidFill>
              <a:srgbClr val="CFCAC4"/>
            </a:solidFill>
            <a:prstDash val="solid"/>
          </a:ln>
        </p:spPr>
      </p:sp>
      <p:sp>
        <p:nvSpPr>
          <p:cNvPr id="10" name="Text 7"/>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11" name="Shape 8"/>
          <p:cNvSpPr/>
          <p:nvPr/>
        </p:nvSpPr>
        <p:spPr>
          <a:xfrm>
            <a:off x="4270248" y="8421624"/>
            <a:ext cx="3200400" cy="0"/>
          </a:xfrm>
          <a:prstGeom prst="line">
            <a:avLst/>
          </a:prstGeom>
          <a:noFill/>
          <a:ln w="9525">
            <a:solidFill>
              <a:srgbClr val="CFCAC4"/>
            </a:solidFill>
            <a:prstDash val="solid"/>
          </a:ln>
        </p:spPr>
      </p:sp>
      <p:sp>
        <p:nvSpPr>
          <p:cNvPr id="12" name="Text 9"/>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3" name="Shape 10"/>
          <p:cNvSpPr/>
          <p:nvPr/>
        </p:nvSpPr>
        <p:spPr>
          <a:xfrm>
            <a:off x="8083296" y="8421624"/>
            <a:ext cx="3200400" cy="0"/>
          </a:xfrm>
          <a:prstGeom prst="line">
            <a:avLst/>
          </a:prstGeom>
          <a:noFill/>
          <a:ln w="9525">
            <a:solidFill>
              <a:srgbClr val="CFCAC4"/>
            </a:solidFill>
            <a:prstDash val="solid"/>
          </a:ln>
        </p:spPr>
      </p:sp>
      <p:sp>
        <p:nvSpPr>
          <p:cNvPr id="14" name="Text 11"/>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5" name="Shape 12"/>
          <p:cNvSpPr/>
          <p:nvPr/>
        </p:nvSpPr>
        <p:spPr>
          <a:xfrm>
            <a:off x="11896344" y="8421624"/>
            <a:ext cx="3200400" cy="0"/>
          </a:xfrm>
          <a:prstGeom prst="line">
            <a:avLst/>
          </a:prstGeom>
          <a:noFill/>
          <a:ln w="9525">
            <a:solidFill>
              <a:srgbClr val="CFCAC4"/>
            </a:solidFill>
            <a:prstDash val="solid"/>
          </a:ln>
        </p:spPr>
      </p:sp>
      <p:sp>
        <p:nvSpPr>
          <p:cNvPr id="16" name="Text 13"/>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7" name="Shape 14"/>
          <p:cNvSpPr/>
          <p:nvPr/>
        </p:nvSpPr>
        <p:spPr>
          <a:xfrm>
            <a:off x="12627864" y="9528048"/>
            <a:ext cx="182880" cy="182880"/>
          </a:xfrm>
          <a:prstGeom prst="ellipse">
            <a:avLst/>
          </a:prstGeom>
          <a:solidFill>
            <a:srgbClr val="761DDB"/>
          </a:solidFill>
          <a:ln/>
        </p:spPr>
      </p:sp>
      <p:sp>
        <p:nvSpPr>
          <p:cNvPr id="18" name="Shape 15"/>
          <p:cNvSpPr/>
          <p:nvPr/>
        </p:nvSpPr>
        <p:spPr>
          <a:xfrm>
            <a:off x="12883896" y="9528048"/>
            <a:ext cx="182880" cy="182880"/>
          </a:xfrm>
          <a:prstGeom prst="ellipse">
            <a:avLst/>
          </a:prstGeom>
          <a:solidFill>
            <a:srgbClr val="761DDB">
              <a:alpha val="22000"/>
            </a:srgbClr>
          </a:solidFill>
          <a:ln/>
        </p:spPr>
      </p:sp>
      <p:sp>
        <p:nvSpPr>
          <p:cNvPr id="19" name="Shape 16"/>
          <p:cNvSpPr/>
          <p:nvPr/>
        </p:nvSpPr>
        <p:spPr>
          <a:xfrm>
            <a:off x="13139928" y="9528048"/>
            <a:ext cx="182880" cy="182880"/>
          </a:xfrm>
          <a:prstGeom prst="ellipse">
            <a:avLst/>
          </a:prstGeom>
          <a:solidFill>
            <a:srgbClr val="761DDB">
              <a:alpha val="22000"/>
            </a:srgbClr>
          </a:solidFill>
          <a:ln/>
        </p:spPr>
      </p:sp>
      <p:sp>
        <p:nvSpPr>
          <p:cNvPr id="20" name="Shape 17"/>
          <p:cNvSpPr/>
          <p:nvPr/>
        </p:nvSpPr>
        <p:spPr>
          <a:xfrm>
            <a:off x="13395960" y="9528048"/>
            <a:ext cx="182880" cy="182880"/>
          </a:xfrm>
          <a:prstGeom prst="ellipse">
            <a:avLst/>
          </a:prstGeom>
          <a:solidFill>
            <a:srgbClr val="761DDB">
              <a:alpha val="22000"/>
            </a:srgbClr>
          </a:solidFill>
          <a:ln/>
        </p:spPr>
      </p:sp>
      <p:sp>
        <p:nvSpPr>
          <p:cNvPr id="21" name="Shape 18"/>
          <p:cNvSpPr/>
          <p:nvPr/>
        </p:nvSpPr>
        <p:spPr>
          <a:xfrm>
            <a:off x="13651992" y="9528048"/>
            <a:ext cx="182880" cy="182880"/>
          </a:xfrm>
          <a:prstGeom prst="ellipse">
            <a:avLst/>
          </a:prstGeom>
          <a:solidFill>
            <a:srgbClr val="761DDB">
              <a:alpha val="22000"/>
            </a:srgbClr>
          </a:solidFill>
          <a:ln/>
        </p:spPr>
      </p:sp>
      <p:sp>
        <p:nvSpPr>
          <p:cNvPr id="22" name="Shape 19"/>
          <p:cNvSpPr/>
          <p:nvPr/>
        </p:nvSpPr>
        <p:spPr>
          <a:xfrm>
            <a:off x="13908024" y="9528048"/>
            <a:ext cx="182880" cy="182880"/>
          </a:xfrm>
          <a:prstGeom prst="ellipse">
            <a:avLst/>
          </a:prstGeom>
          <a:solidFill>
            <a:srgbClr val="761DDB">
              <a:alpha val="22000"/>
            </a:srgbClr>
          </a:solidFill>
          <a:ln/>
        </p:spPr>
      </p:sp>
      <p:sp>
        <p:nvSpPr>
          <p:cNvPr id="23" name="Shape 20"/>
          <p:cNvSpPr/>
          <p:nvPr/>
        </p:nvSpPr>
        <p:spPr>
          <a:xfrm>
            <a:off x="14164056" y="9528048"/>
            <a:ext cx="182880" cy="182880"/>
          </a:xfrm>
          <a:prstGeom prst="ellipse">
            <a:avLst/>
          </a:prstGeom>
          <a:solidFill>
            <a:srgbClr val="761DDB">
              <a:alpha val="22000"/>
            </a:srgbClr>
          </a:solidFill>
          <a:ln/>
        </p:spPr>
      </p:sp>
      <p:sp>
        <p:nvSpPr>
          <p:cNvPr id="24" name="Shape 21"/>
          <p:cNvSpPr/>
          <p:nvPr/>
        </p:nvSpPr>
        <p:spPr>
          <a:xfrm>
            <a:off x="14420088" y="9528048"/>
            <a:ext cx="182880" cy="182880"/>
          </a:xfrm>
          <a:prstGeom prst="ellipse">
            <a:avLst/>
          </a:prstGeom>
          <a:solidFill>
            <a:srgbClr val="761DDB">
              <a:alpha val="22000"/>
            </a:srgbClr>
          </a:solidFill>
          <a:ln/>
        </p:spPr>
      </p:sp>
      <p:sp>
        <p:nvSpPr>
          <p:cNvPr id="25" name="Shape 22"/>
          <p:cNvSpPr/>
          <p:nvPr/>
        </p:nvSpPr>
        <p:spPr>
          <a:xfrm>
            <a:off x="14676120" y="9528048"/>
            <a:ext cx="182880" cy="182880"/>
          </a:xfrm>
          <a:prstGeom prst="ellipse">
            <a:avLst/>
          </a:prstGeom>
          <a:solidFill>
            <a:srgbClr val="761DDB">
              <a:alpha val="22000"/>
            </a:srgbClr>
          </a:solidFill>
          <a:ln/>
        </p:spPr>
      </p:sp>
      <p:sp>
        <p:nvSpPr>
          <p:cNvPr id="26" name="Shape 23"/>
          <p:cNvSpPr/>
          <p:nvPr/>
        </p:nvSpPr>
        <p:spPr>
          <a:xfrm>
            <a:off x="14932152" y="9528048"/>
            <a:ext cx="182880" cy="182880"/>
          </a:xfrm>
          <a:prstGeom prst="ellipse">
            <a:avLst/>
          </a:prstGeom>
          <a:solidFill>
            <a:srgbClr val="761DDB">
              <a:alpha val="22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Why check what an AI prefers?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These systems already sit inside economic decisions, and nobody has asked what they actually choose.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sp>
        <p:nvSpPr>
          <p:cNvPr id="24" name="Shape 21"/>
          <p:cNvSpPr/>
          <p:nvPr/>
        </p:nvSpPr>
        <p:spPr>
          <a:xfrm>
            <a:off x="457200" y="3794760"/>
            <a:ext cx="4480560" cy="0"/>
          </a:xfrm>
          <a:prstGeom prst="line">
            <a:avLst/>
          </a:prstGeom>
          <a:noFill/>
          <a:ln w="12700">
            <a:solidFill>
              <a:srgbClr val="761DDB"/>
            </a:solidFill>
            <a:prstDash val="solid"/>
          </a:ln>
        </p:spPr>
      </p:sp>
      <p:sp>
        <p:nvSpPr>
          <p:cNvPr id="25" name="Text 22"/>
          <p:cNvSpPr txBox="1"/>
          <p:nvPr/>
        </p:nvSpPr>
        <p:spPr>
          <a:xfrm>
            <a:off x="45720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They already handle money</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AI systems draft budgets, screen loan files, price contracts, and advise people on retirement accounts. Every one of those tasks is a choice under uncertainty.</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sp>
      <p:sp>
        <p:nvSpPr>
          <p:cNvPr id="28" name="Text 25"/>
          <p:cNvSpPr txBox="1"/>
          <p:nvPr/>
        </p:nvSpPr>
        <p:spPr>
          <a:xfrm>
            <a:off x="553212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Choices reveal preferences</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Economists have spent fifty years reading preferences out of what people choose rather than out of what they say about themselves. The method transfers to a model without modification.</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sp>
      <p:sp>
        <p:nvSpPr>
          <p:cNvPr id="31" name="Text 28"/>
          <p:cNvSpPr txBox="1"/>
          <p:nvPr/>
        </p:nvSpPr>
        <p:spPr>
          <a:xfrm>
            <a:off x="1060704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Nobody has run the check</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Published work tests the finished assistant and stops. That cannot tell you whether a habit came from reading the internet or from the training that came afterward.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How the experiment works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Every model sees byte-identical questions. One thing changes at a time: the odds, the prize, the wording, or the order.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sp>
        <p:nvSpPr>
          <p:cNvPr id="24" name="Shape 21"/>
          <p:cNvSpPr/>
          <p:nvPr/>
        </p:nvSpPr>
        <p:spPr>
          <a:xfrm>
            <a:off x="457200" y="2788920"/>
            <a:ext cx="8503920" cy="1600200"/>
          </a:xfrm>
          <a:prstGeom prst="rect">
            <a:avLst/>
          </a:prstGeom>
          <a:solidFill>
            <a:srgbClr val="FFFFFF"/>
          </a:solidFill>
          <a:ln w="12700">
            <a:solidFill>
              <a:srgbClr val="CFCAC4"/>
            </a:solidFill>
            <a:prstDash val="solid"/>
          </a:ln>
        </p:spPr>
      </p:sp>
      <p:sp>
        <p:nvSpPr>
          <p:cNvPr id="25" name="Text 22"/>
          <p:cNvSpPr txBox="1"/>
          <p:nvPr/>
        </p:nvSpPr>
        <p:spPr>
          <a:xfrm>
            <a:off x="777240" y="3035808"/>
            <a:ext cx="7955280" cy="365760"/>
          </a:xfrm>
          <a:prstGeom prst="rect">
            <a:avLst/>
          </a:prstGeom>
          <a:noFill/>
          <a:ln/>
        </p:spPr>
        <p:txBody>
          <a:bodyPr wrap="square" lIns="0" tIns="0" rIns="0" bIns="0" rtlCol="0" anchor="t"/>
          <a:lstStyle/>
          <a:p>
            <a:pPr indent="0" marL="0">
              <a:buNone/>
            </a:pPr>
            <a:r>
              <a:rPr lang="en-US" sz="1500" dirty="0">
                <a:solidFill>
                  <a:srgbClr val="1C1C1E"/>
                </a:solidFill>
                <a:latin typeface="Courier New" pitchFamily="34" charset="0"/>
                <a:ea typeface="Courier New" pitchFamily="34" charset="-122"/>
                <a:cs typeface="Courier New" pitchFamily="34" charset="-120"/>
              </a:rPr>
              <a:t>Option A: receive $86 for certain.</a:t>
            </a:r>
            <a:endParaRPr lang="en-US" sz="1500" dirty="0"/>
          </a:p>
        </p:txBody>
      </p:sp>
      <p:sp>
        <p:nvSpPr>
          <p:cNvPr id="26" name="Text 23"/>
          <p:cNvSpPr txBox="1"/>
          <p:nvPr/>
        </p:nvSpPr>
        <p:spPr>
          <a:xfrm>
            <a:off x="777240" y="3520440"/>
            <a:ext cx="7955280" cy="457200"/>
          </a:xfrm>
          <a:prstGeom prst="rect">
            <a:avLst/>
          </a:prstGeom>
          <a:noFill/>
          <a:ln/>
        </p:spPr>
        <p:txBody>
          <a:bodyPr wrap="square" lIns="0" tIns="0" rIns="0" bIns="0" rtlCol="0" anchor="t"/>
          <a:lstStyle/>
          <a:p>
            <a:pPr indent="0" marL="0">
              <a:buNone/>
            </a:pPr>
            <a:r>
              <a:rPr lang="en-US" sz="1500" dirty="0">
                <a:solidFill>
                  <a:srgbClr val="1C1C1E"/>
                </a:solidFill>
                <a:latin typeface="Courier New" pitchFamily="34" charset="0"/>
                <a:ea typeface="Courier New" pitchFamily="34" charset="-122"/>
                <a:cs typeface="Courier New" pitchFamily="34" charset="-120"/>
              </a:rPr>
              <a:t>Option B: receive $210 with 43% probability, otherwise $0.</a:t>
            </a:r>
            <a:endParaRPr lang="en-US" sz="1500" dirty="0"/>
          </a:p>
        </p:txBody>
      </p:sp>
      <p:sp>
        <p:nvSpPr>
          <p:cNvPr id="27" name="Text 24"/>
          <p:cNvSpPr txBox="1"/>
          <p:nvPr/>
        </p:nvSpPr>
        <p:spPr>
          <a:xfrm>
            <a:off x="457200" y="4800600"/>
            <a:ext cx="8503920" cy="91440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read the answer straight out of the model's internal probabilities rather than sampling replies, so each question is asked once and the answer is exact.</a:t>
            </a:r>
            <a:endParaRPr lang="en-US" sz="1600" dirty="0"/>
          </a:p>
        </p:txBody>
      </p:sp>
      <p:sp>
        <p:nvSpPr>
          <p:cNvPr id="28" name="Text 25"/>
          <p:cNvSpPr txBox="1"/>
          <p:nvPr/>
        </p:nvSpPr>
        <p:spPr>
          <a:xfrm>
            <a:off x="457200" y="6080760"/>
            <a:ext cx="8503920" cy="91440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Eighty of the questions are free money: a sure $50 against a sure $70. Any subject who is paying attention takes the $70 every time.</a:t>
            </a:r>
            <a:endParaRPr lang="en-US" sz="1600" dirty="0"/>
          </a:p>
        </p:txBody>
      </p:sp>
      <p:sp>
        <p:nvSpPr>
          <p:cNvPr id="29" name="Shape 26"/>
          <p:cNvSpPr/>
          <p:nvPr/>
        </p:nvSpPr>
        <p:spPr>
          <a:xfrm>
            <a:off x="9784080" y="2788920"/>
            <a:ext cx="2514600" cy="0"/>
          </a:xfrm>
          <a:prstGeom prst="line">
            <a:avLst/>
          </a:prstGeom>
          <a:noFill/>
          <a:ln w="12700">
            <a:solidFill>
              <a:srgbClr val="761DDB"/>
            </a:solidFill>
            <a:prstDash val="solid"/>
          </a:ln>
        </p:spPr>
      </p:sp>
      <p:sp>
        <p:nvSpPr>
          <p:cNvPr id="30" name="Text 27"/>
          <p:cNvSpPr txBox="1"/>
          <p:nvPr/>
        </p:nvSpPr>
        <p:spPr>
          <a:xfrm>
            <a:off x="9784080" y="2990088"/>
            <a:ext cx="2514600" cy="960120"/>
          </a:xfrm>
          <a:prstGeom prst="rect">
            <a:avLst/>
          </a:prstGeom>
          <a:noFill/>
          <a:ln/>
        </p:spPr>
        <p:txBody>
          <a:bodyPr wrap="square" lIns="0" tIns="0" rIns="0" bIns="0" rtlCol="0" anchor="t"/>
          <a:lstStyle/>
          <a:p>
            <a:pPr indent="0" marL="0">
              <a:buNone/>
            </a:pPr>
            <a:r>
              <a:rPr lang="en-US" sz="4400" dirty="0">
                <a:solidFill>
                  <a:srgbClr val="761DDB"/>
                </a:solidFill>
                <a:latin typeface="Georgia" pitchFamily="34" charset="0"/>
                <a:ea typeface="Georgia" pitchFamily="34" charset="-122"/>
                <a:cs typeface="Georgia" pitchFamily="34" charset="-120"/>
              </a:rPr>
              <a:t>1,680</a:t>
            </a:r>
            <a:endParaRPr lang="en-US" sz="4400" dirty="0"/>
          </a:p>
        </p:txBody>
      </p:sp>
      <p:sp>
        <p:nvSpPr>
          <p:cNvPr id="31" name="Text 28"/>
          <p:cNvSpPr txBox="1"/>
          <p:nvPr/>
        </p:nvSpPr>
        <p:spPr>
          <a:xfrm>
            <a:off x="9784080" y="4087368"/>
            <a:ext cx="2514600" cy="731520"/>
          </a:xfrm>
          <a:prstGeom prst="rect">
            <a:avLst/>
          </a:prstGeom>
          <a:noFill/>
          <a:ln/>
        </p:spPr>
        <p:txBody>
          <a:bodyPr wrap="square" lIns="0" tIns="0" rIns="0" bIns="0" rtlCol="0" anchor="t"/>
          <a:lstStyle/>
          <a:p>
            <a:pPr indent="0" marL="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questions per model run</a:t>
            </a:r>
            <a:endParaRPr lang="en-US" sz="1400" dirty="0"/>
          </a:p>
        </p:txBody>
      </p:sp>
      <p:sp>
        <p:nvSpPr>
          <p:cNvPr id="32" name="Shape 29"/>
          <p:cNvSpPr/>
          <p:nvPr/>
        </p:nvSpPr>
        <p:spPr>
          <a:xfrm>
            <a:off x="12710160" y="2788920"/>
            <a:ext cx="2514600" cy="0"/>
          </a:xfrm>
          <a:prstGeom prst="line">
            <a:avLst/>
          </a:prstGeom>
          <a:noFill/>
          <a:ln w="12700">
            <a:solidFill>
              <a:srgbClr val="761DDB"/>
            </a:solidFill>
            <a:prstDash val="solid"/>
          </a:ln>
        </p:spPr>
      </p:sp>
      <p:sp>
        <p:nvSpPr>
          <p:cNvPr id="33" name="Text 30"/>
          <p:cNvSpPr txBox="1"/>
          <p:nvPr/>
        </p:nvSpPr>
        <p:spPr>
          <a:xfrm>
            <a:off x="12710160" y="2990088"/>
            <a:ext cx="2514600" cy="960120"/>
          </a:xfrm>
          <a:prstGeom prst="rect">
            <a:avLst/>
          </a:prstGeom>
          <a:noFill/>
          <a:ln/>
        </p:spPr>
        <p:txBody>
          <a:bodyPr wrap="square" lIns="0" tIns="0" rIns="0" bIns="0" rtlCol="0" anchor="t"/>
          <a:lstStyle/>
          <a:p>
            <a:pPr indent="0" marL="0">
              <a:buNone/>
            </a:pPr>
            <a:r>
              <a:rPr lang="en-US" sz="4400" dirty="0">
                <a:solidFill>
                  <a:srgbClr val="761DDB"/>
                </a:solidFill>
                <a:latin typeface="Georgia" pitchFamily="34" charset="0"/>
                <a:ea typeface="Georgia" pitchFamily="34" charset="-122"/>
                <a:cs typeface="Georgia" pitchFamily="34" charset="-120"/>
              </a:rPr>
              <a:t>17</a:t>
            </a:r>
            <a:endParaRPr lang="en-US" sz="4400" dirty="0"/>
          </a:p>
        </p:txBody>
      </p:sp>
      <p:sp>
        <p:nvSpPr>
          <p:cNvPr id="34" name="Text 31"/>
          <p:cNvSpPr txBox="1"/>
          <p:nvPr/>
        </p:nvSpPr>
        <p:spPr>
          <a:xfrm>
            <a:off x="12710160" y="4087368"/>
            <a:ext cx="2514600" cy="731520"/>
          </a:xfrm>
          <a:prstGeom prst="rect">
            <a:avLst/>
          </a:prstGeom>
          <a:noFill/>
          <a:ln/>
        </p:spPr>
        <p:txBody>
          <a:bodyPr wrap="square" lIns="0" tIns="0" rIns="0" bIns="0" rtlCol="0" anchor="t"/>
          <a:lstStyle/>
          <a:p>
            <a:pPr indent="0" marL="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runs</a:t>
            </a:r>
            <a:endParaRPr lang="en-US" sz="1400" dirty="0"/>
          </a:p>
        </p:txBody>
      </p:sp>
      <p:sp>
        <p:nvSpPr>
          <p:cNvPr id="35" name="Shape 32"/>
          <p:cNvSpPr/>
          <p:nvPr/>
        </p:nvSpPr>
        <p:spPr>
          <a:xfrm>
            <a:off x="9784080" y="5257800"/>
            <a:ext cx="2514600" cy="0"/>
          </a:xfrm>
          <a:prstGeom prst="line">
            <a:avLst/>
          </a:prstGeom>
          <a:noFill/>
          <a:ln w="12700">
            <a:solidFill>
              <a:srgbClr val="761DDB"/>
            </a:solidFill>
            <a:prstDash val="solid"/>
          </a:ln>
        </p:spPr>
      </p:sp>
      <p:sp>
        <p:nvSpPr>
          <p:cNvPr id="36" name="Text 33"/>
          <p:cNvSpPr txBox="1"/>
          <p:nvPr/>
        </p:nvSpPr>
        <p:spPr>
          <a:xfrm>
            <a:off x="9784080" y="5458968"/>
            <a:ext cx="2514600" cy="960120"/>
          </a:xfrm>
          <a:prstGeom prst="rect">
            <a:avLst/>
          </a:prstGeom>
          <a:noFill/>
          <a:ln/>
        </p:spPr>
        <p:txBody>
          <a:bodyPr wrap="square" lIns="0" tIns="0" rIns="0" bIns="0" rtlCol="0" anchor="t"/>
          <a:lstStyle/>
          <a:p>
            <a:pPr indent="0" marL="0">
              <a:buNone/>
            </a:pPr>
            <a:r>
              <a:rPr lang="en-US" sz="4400" dirty="0">
                <a:solidFill>
                  <a:srgbClr val="761DDB"/>
                </a:solidFill>
                <a:latin typeface="Georgia" pitchFamily="34" charset="0"/>
                <a:ea typeface="Georgia" pitchFamily="34" charset="-122"/>
                <a:cs typeface="Georgia" pitchFamily="34" charset="-120"/>
              </a:rPr>
              <a:t>4</a:t>
            </a:r>
            <a:endParaRPr lang="en-US" sz="4400" dirty="0"/>
          </a:p>
        </p:txBody>
      </p:sp>
      <p:sp>
        <p:nvSpPr>
          <p:cNvPr id="37" name="Text 34"/>
          <p:cNvSpPr txBox="1"/>
          <p:nvPr/>
        </p:nvSpPr>
        <p:spPr>
          <a:xfrm>
            <a:off x="9784080" y="6556248"/>
            <a:ext cx="2514600" cy="731520"/>
          </a:xfrm>
          <a:prstGeom prst="rect">
            <a:avLst/>
          </a:prstGeom>
          <a:noFill/>
          <a:ln/>
        </p:spPr>
        <p:txBody>
          <a:bodyPr wrap="square" lIns="0" tIns="0" rIns="0" bIns="0" rtlCol="0" anchor="t"/>
          <a:lstStyle/>
          <a:p>
            <a:pPr indent="0" marL="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families</a:t>
            </a:r>
            <a:endParaRPr lang="en-US" sz="1400" dirty="0"/>
          </a:p>
        </p:txBody>
      </p:sp>
      <p:sp>
        <p:nvSpPr>
          <p:cNvPr id="38" name="Shape 35"/>
          <p:cNvSpPr/>
          <p:nvPr/>
        </p:nvSpPr>
        <p:spPr>
          <a:xfrm>
            <a:off x="12710160" y="5257800"/>
            <a:ext cx="2514600" cy="0"/>
          </a:xfrm>
          <a:prstGeom prst="line">
            <a:avLst/>
          </a:prstGeom>
          <a:noFill/>
          <a:ln w="12700">
            <a:solidFill>
              <a:srgbClr val="761DDB"/>
            </a:solidFill>
            <a:prstDash val="solid"/>
          </a:ln>
        </p:spPr>
      </p:sp>
      <p:sp>
        <p:nvSpPr>
          <p:cNvPr id="39" name="Text 36"/>
          <p:cNvSpPr txBox="1"/>
          <p:nvPr/>
        </p:nvSpPr>
        <p:spPr>
          <a:xfrm>
            <a:off x="12710160" y="5458968"/>
            <a:ext cx="2514600" cy="960120"/>
          </a:xfrm>
          <a:prstGeom prst="rect">
            <a:avLst/>
          </a:prstGeom>
          <a:noFill/>
          <a:ln/>
        </p:spPr>
        <p:txBody>
          <a:bodyPr wrap="square" lIns="0" tIns="0" rIns="0" bIns="0" rtlCol="0" anchor="t"/>
          <a:lstStyle/>
          <a:p>
            <a:pPr indent="0" marL="0">
              <a:buNone/>
            </a:pPr>
            <a:r>
              <a:rPr lang="en-US" sz="4400" dirty="0">
                <a:solidFill>
                  <a:srgbClr val="761DDB"/>
                </a:solidFill>
                <a:latin typeface="Georgia" pitchFamily="34" charset="0"/>
                <a:ea typeface="Georgia" pitchFamily="34" charset="-122"/>
                <a:cs typeface="Georgia" pitchFamily="34" charset="-120"/>
              </a:rPr>
              <a:t>28,560</a:t>
            </a:r>
            <a:endParaRPr lang="en-US" sz="4400" dirty="0"/>
          </a:p>
        </p:txBody>
      </p:sp>
      <p:sp>
        <p:nvSpPr>
          <p:cNvPr id="40" name="Text 37"/>
          <p:cNvSpPr txBox="1"/>
          <p:nvPr/>
        </p:nvSpPr>
        <p:spPr>
          <a:xfrm>
            <a:off x="12710160" y="6556248"/>
            <a:ext cx="2514600" cy="731520"/>
          </a:xfrm>
          <a:prstGeom prst="rect">
            <a:avLst/>
          </a:prstGeom>
          <a:noFill/>
          <a:ln/>
        </p:spPr>
        <p:txBody>
          <a:bodyPr wrap="square" lIns="0" tIns="0" rIns="0" bIns="0" rtlCol="0" anchor="t"/>
          <a:lstStyle/>
          <a:p>
            <a:pPr indent="0" marL="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answers recorded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A confident answer is not an answer</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 free money check: a sure $50 against a sure $70, with nothing to reason about.</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freemoney.png">    </p:cNvPr>
          <p:cNvPicPr>
            <a:picLocks noChangeAspect="1"/>
          </p:cNvPicPr>
          <p:nvPr/>
        </p:nvPicPr>
        <p:blipFill>
          <a:blip r:embed="rId2"/>
          <a:stretch>
            <a:fillRect/>
          </a:stretch>
        </p:blipFill>
        <p:spPr>
          <a:xfrm>
            <a:off x="822960" y="2606040"/>
            <a:ext cx="13898880" cy="4526280"/>
          </a:xfrm>
          <a:prstGeom prst="rect">
            <a:avLst/>
          </a:prstGeom>
        </p:spPr>
      </p:pic>
      <p:sp>
        <p:nvSpPr>
          <p:cNvPr id="25" name="Text 21"/>
          <p:cNvSpPr txBox="1"/>
          <p:nvPr/>
        </p:nvSpPr>
        <p:spPr>
          <a:xfrm>
            <a:off x="822960" y="7452360"/>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Share of 80 free-money questions on which the model picks the larger sure amount. Claude Haiku, measured in an earlier phase, is shown for comparison.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When does an AI learn to care about money?</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At supervised fine-tuning, the first and simplest of the assistant-training steps.</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staircase.png">    </p:cNvPr>
          <p:cNvPicPr>
            <a:picLocks noChangeAspect="1"/>
          </p:cNvPicPr>
          <p:nvPr/>
        </p:nvPicPr>
        <p:blipFill>
          <a:blip r:embed="rId2"/>
          <a:stretch>
            <a:fillRect/>
          </a:stretch>
        </p:blipFill>
        <p:spPr>
          <a:xfrm>
            <a:off x="1385316" y="2377440"/>
            <a:ext cx="12774168" cy="5440680"/>
          </a:xfrm>
          <a:prstGeom prst="rect">
            <a:avLst/>
          </a:prstGeom>
        </p:spPr>
      </p:pic>
      <p:sp>
        <p:nvSpPr>
          <p:cNvPr id="25" name="Text 21"/>
          <p:cNvSpPr txBox="1"/>
          <p:nvPr/>
        </p:nvSpPr>
        <p:spPr>
          <a:xfrm>
            <a:off x="822960" y="7973568"/>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OLMo-2 is the one model family that publishes a snapshot after every training step. Identical questions at all four points in its life, asked the same way each time.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How you ask decides who answers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Same weights, same questions, two standard ways of putting them to the model.</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format.png">    </p:cNvPr>
          <p:cNvPicPr>
            <a:picLocks noChangeAspect="1"/>
          </p:cNvPicPr>
          <p:nvPr/>
        </p:nvPicPr>
        <p:blipFill>
          <a:blip r:embed="rId2"/>
          <a:stretch>
            <a:fillRect/>
          </a:stretch>
        </p:blipFill>
        <p:spPr>
          <a:xfrm>
            <a:off x="914400" y="2514600"/>
            <a:ext cx="13716000" cy="5120640"/>
          </a:xfrm>
          <a:prstGeom prst="rect">
            <a:avLst/>
          </a:prstGeom>
        </p:spPr>
      </p:pic>
      <p:sp>
        <p:nvSpPr>
          <p:cNvPr id="25" name="Text 21"/>
          <p:cNvSpPr txBox="1"/>
          <p:nvPr/>
        </p:nvSpPr>
        <p:spPr>
          <a:xfrm>
            <a:off x="822960" y="7772400"/>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Free-money accuracy by question format, for the finished assistant in each family. Every model here clears the coin-flip bar; the question is by how much, and which format gets it there.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The same bet, called a loss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systems, four different reactions to one change in wording.</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framegap.png">    </p:cNvPr>
          <p:cNvPicPr>
            <a:picLocks noChangeAspect="1"/>
          </p:cNvPicPr>
          <p:nvPr/>
        </p:nvPicPr>
        <p:blipFill>
          <a:blip r:embed="rId2"/>
          <a:stretch>
            <a:fillRect/>
          </a:stretch>
        </p:blipFill>
        <p:spPr>
          <a:xfrm>
            <a:off x="914400" y="2450592"/>
            <a:ext cx="13716000" cy="5148072"/>
          </a:xfrm>
          <a:prstGeom prst="rect">
            <a:avLst/>
          </a:prstGeom>
        </p:spPr>
      </p:pic>
      <p:sp>
        <p:nvSpPr>
          <p:cNvPr id="25" name="Text 21"/>
          <p:cNvSpPr txBox="1"/>
          <p:nvPr/>
        </p:nvSpPr>
        <p:spPr>
          <a:xfrm>
            <a:off x="822960" y="7726680"/>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Change in gambling rate when an arithmetically identical bet is described in terms of a loss. Llama sits at plus 3.4 in one format and minus 5.1 in the other.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Can you just tell it what to want?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Only where following the instruction requires no arithmetic.</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alpha val="22000"/>
            </a:srgbClr>
          </a:solidFill>
          <a:ln/>
        </p:spPr>
      </p:sp>
      <p:pic>
        <p:nvPicPr>
          <p:cNvPr id="24" name="Image 1" descr="/private/tmp/claude-501/-Users-johnpb89-Desktop/751e14e8-de1e-42cb-8bce-61bc0e103cc2/scratchpad/figs/deck_induced.png">    </p:cNvPr>
          <p:cNvPicPr>
            <a:picLocks noChangeAspect="1"/>
          </p:cNvPicPr>
          <p:nvPr/>
        </p:nvPicPr>
        <p:blipFill>
          <a:blip r:embed="rId2"/>
          <a:stretch>
            <a:fillRect/>
          </a:stretch>
        </p:blipFill>
        <p:spPr>
          <a:xfrm>
            <a:off x="1869948" y="2377440"/>
            <a:ext cx="11804904" cy="5349240"/>
          </a:xfrm>
          <a:prstGeom prst="rect">
            <a:avLst/>
          </a:prstGeom>
        </p:spPr>
      </p:pic>
      <p:sp>
        <p:nvSpPr>
          <p:cNvPr id="25" name="Text 21"/>
          <p:cNvSpPr txBox="1"/>
          <p:nvPr/>
        </p:nvSpPr>
        <p:spPr>
          <a:xfrm>
            <a:off x="822960" y="7882128"/>
            <a:ext cx="13898880" cy="502920"/>
          </a:xfrm>
          <a:prstGeom prst="rect">
            <a:avLst/>
          </a:prstGeom>
          <a:noFill/>
          <a:ln/>
        </p:spPr>
        <p:txBody>
          <a:bodyPr wrap="square" lIns="0" tIns="0" rIns="0" bIns="0" rtlCol="0" anchor="t"/>
          <a:lstStyle/>
          <a:p>
            <a:pPr indent="0" marL="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Compliance with an instruction to multiply the payoff by the probability and take the larger number, on questions where that rule clearly separates the two options.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What this means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conclusions, in the order they would change what somebody does on Monday.</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solidFill>
          <a:ln/>
        </p:spPr>
      </p:sp>
      <p:sp>
        <p:nvSpPr>
          <p:cNvPr id="23" name="Shape 20"/>
          <p:cNvSpPr/>
          <p:nvPr/>
        </p:nvSpPr>
        <p:spPr>
          <a:xfrm>
            <a:off x="14932152" y="9528048"/>
            <a:ext cx="182880" cy="182880"/>
          </a:xfrm>
          <a:prstGeom prst="ellipse">
            <a:avLst/>
          </a:prstGeom>
          <a:solidFill>
            <a:srgbClr val="761DDB">
              <a:alpha val="22000"/>
            </a:srgbClr>
          </a:solidFill>
          <a:ln/>
        </p:spPr>
      </p:sp>
      <p:sp>
        <p:nvSpPr>
          <p:cNvPr id="24" name="Shape 21"/>
          <p:cNvSpPr/>
          <p:nvPr/>
        </p:nvSpPr>
        <p:spPr>
          <a:xfrm>
            <a:off x="457200" y="2606040"/>
            <a:ext cx="7086600" cy="0"/>
          </a:xfrm>
          <a:prstGeom prst="line">
            <a:avLst/>
          </a:prstGeom>
          <a:noFill/>
          <a:ln w="12700">
            <a:solidFill>
              <a:srgbClr val="761DDB"/>
            </a:solidFill>
            <a:prstDash val="solid"/>
          </a:ln>
        </p:spPr>
      </p:sp>
      <p:sp>
        <p:nvSpPr>
          <p:cNvPr id="25" name="Text 22"/>
          <p:cNvSpPr txBox="1"/>
          <p:nvPr/>
        </p:nvSpPr>
        <p:spPr>
          <a:xfrm>
            <a:off x="457200" y="2788920"/>
            <a:ext cx="7086600" cy="685800"/>
          </a:xfrm>
          <a:prstGeom prst="rect">
            <a:avLst/>
          </a:prstGeom>
          <a:noFill/>
          <a:ln/>
        </p:spPr>
        <p:txBody>
          <a:bodyPr wrap="square" lIns="0" tIns="0" rIns="0" bIns="0" rtlCol="0" anchor="t"/>
          <a:lstStyle/>
          <a:p>
            <a:pPr indent="0" marL="0">
              <a:lnSpc>
                <a:spcPct val="115000"/>
              </a:lnSpc>
              <a:buNone/>
            </a:pPr>
            <a:r>
              <a:rPr lang="en-US" sz="2400" dirty="0">
                <a:solidFill>
                  <a:srgbClr val="1C1C1E"/>
                </a:solidFill>
                <a:latin typeface="Georgia" pitchFamily="34" charset="0"/>
                <a:ea typeface="Georgia" pitchFamily="34" charset="-122"/>
                <a:cs typeface="Georgia" pitchFamily="34" charset="-120"/>
              </a:rPr>
              <a:t>The bias belongs to a recipe</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Four systems, four reactions to the same change in wording. A framing vulnerability documented on one model tells a procurement officer nothing reliable about the model actually deployed.</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sp>
      <p:sp>
        <p:nvSpPr>
          <p:cNvPr id="28" name="Text 25"/>
          <p:cNvSpPr txBox="1"/>
          <p:nvPr/>
        </p:nvSpPr>
        <p:spPr>
          <a:xfrm>
            <a:off x="8001000" y="2788920"/>
            <a:ext cx="7086600" cy="685800"/>
          </a:xfrm>
          <a:prstGeom prst="rect">
            <a:avLst/>
          </a:prstGeom>
          <a:noFill/>
          <a:ln/>
        </p:spPr>
        <p:txBody>
          <a:bodyPr wrap="square" lIns="0" tIns="0" rIns="0" bIns="0" rtlCol="0" anchor="t"/>
          <a:lstStyle/>
          <a:p>
            <a:pPr indent="0" marL="0">
              <a:lnSpc>
                <a:spcPct val="115000"/>
              </a:lnSpc>
              <a:buNone/>
            </a:pPr>
            <a:r>
              <a:rPr lang="en-US" sz="2400" dirty="0">
                <a:solidFill>
                  <a:srgbClr val="1C1C1E"/>
                </a:solidFill>
                <a:latin typeface="Georgia" pitchFamily="34" charset="0"/>
                <a:ea typeface="Georgia" pitchFamily="34" charset="-122"/>
                <a:cs typeface="Georgia" pitchFamily="34" charset="-120"/>
              </a:rPr>
              <a:t>Look earlier than people do</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If a behavior is installed at supervised fine-tuning, that is where to audit it, rather than at the preference-training stage that receives most of the governance attention.</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sp>
      <p:sp>
        <p:nvSpPr>
          <p:cNvPr id="31" name="Text 28"/>
          <p:cNvSpPr txBox="1"/>
          <p:nvPr/>
        </p:nvSpPr>
        <p:spPr>
          <a:xfrm>
            <a:off x="457200" y="5623560"/>
            <a:ext cx="7086600" cy="685800"/>
          </a:xfrm>
          <a:prstGeom prst="rect">
            <a:avLst/>
          </a:prstGeom>
          <a:noFill/>
          <a:ln/>
        </p:spPr>
        <p:txBody>
          <a:bodyPr wrap="square" lIns="0" tIns="0" rIns="0" bIns="0" rtlCol="0" anchor="t"/>
          <a:lstStyle/>
          <a:p>
            <a:pPr indent="0" marL="0">
              <a:lnSpc>
                <a:spcPct val="115000"/>
              </a:lnSpc>
              <a:buNone/>
            </a:pPr>
            <a:r>
              <a:rPr lang="en-US" sz="2400" dirty="0">
                <a:solidFill>
                  <a:srgbClr val="1C1C1E"/>
                </a:solidFill>
                <a:latin typeface="Georgia" pitchFamily="34" charset="0"/>
                <a:ea typeface="Georgia" pitchFamily="34" charset="-122"/>
                <a:cs typeface="Georgia" pitchFamily="34" charset="-120"/>
              </a:rPr>
              <a:t>Check that the subject is awake</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 model can return confident answers and publishable-looking numbers while failing to prefer $70 to $50. Eighty free-money questions catch it, and cost almost nothing to run.</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sp>
      <p:sp>
        <p:nvSpPr>
          <p:cNvPr id="34" name="Text 31"/>
          <p:cNvSpPr txBox="1"/>
          <p:nvPr/>
        </p:nvSpPr>
        <p:spPr>
          <a:xfrm>
            <a:off x="8001000" y="5623560"/>
            <a:ext cx="7086600" cy="685800"/>
          </a:xfrm>
          <a:prstGeom prst="rect">
            <a:avLst/>
          </a:prstGeom>
          <a:noFill/>
          <a:ln/>
        </p:spPr>
        <p:txBody>
          <a:bodyPr wrap="square" lIns="0" tIns="0" rIns="0" bIns="0" rtlCol="0" anchor="t"/>
          <a:lstStyle/>
          <a:p>
            <a:pPr indent="0" marL="0">
              <a:lnSpc>
                <a:spcPct val="115000"/>
              </a:lnSpc>
              <a:buNone/>
            </a:pPr>
            <a:r>
              <a:rPr lang="en-US" sz="2400" dirty="0">
                <a:solidFill>
                  <a:srgbClr val="1C1C1E"/>
                </a:solidFill>
                <a:latin typeface="Georgia" pitchFamily="34" charset="0"/>
                <a:ea typeface="Georgia" pitchFamily="34" charset="-122"/>
                <a:cs typeface="Georgia" pitchFamily="34" charset="-120"/>
              </a:rPr>
              <a:t>Instructions do not override training</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indent="0" marL="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Telling a model to maximize expected value moved compliance by about three points. What the training put there stays there.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sp>
      <p:pic>
        <p:nvPicPr>
          <p:cNvPr id="3" name="Image 0" descr="/private/tmp/claude-501/-Users-johnpb89-Desktop/751e14e8-de1e-42cb-8bce-61bc0e103cc2/scratchpad/rand/rand_logo.png">    </p:cNvPr>
          <p:cNvPicPr>
            <a:picLocks noChangeAspect="1"/>
          </p:cNvPicPr>
          <p:nvPr/>
        </p:nvPicPr>
        <p:blipFill>
          <a:blip r:embed="rId1"/>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indent="0" marL="0">
              <a:buNone/>
            </a:pPr>
            <a:r>
              <a:rPr lang="en-US" sz="4000" dirty="0">
                <a:solidFill>
                  <a:srgbClr val="1C1C1E"/>
                </a:solidFill>
                <a:latin typeface="Georgia" pitchFamily="34" charset="0"/>
                <a:ea typeface="Georgia" pitchFamily="34" charset="-122"/>
                <a:cs typeface="Georgia" pitchFamily="34" charset="-120"/>
              </a:rPr>
              <a:t>What comes next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indent="0" marL="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Three projects for the fall, in order of how much they would change the answer.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sp>
      <p:sp>
        <p:nvSpPr>
          <p:cNvPr id="7" name="Text 4"/>
          <p:cNvSpPr txBox="1"/>
          <p:nvPr/>
        </p:nvSpPr>
        <p:spPr>
          <a:xfrm>
            <a:off x="457200"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sp>
      <p:sp>
        <p:nvSpPr>
          <p:cNvPr id="9" name="Text 6"/>
          <p:cNvSpPr txBox="1"/>
          <p:nvPr/>
        </p:nvSpPr>
        <p:spPr>
          <a:xfrm>
            <a:off x="4270248"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sp>
      <p:sp>
        <p:nvSpPr>
          <p:cNvPr id="11" name="Text 8"/>
          <p:cNvSpPr txBox="1"/>
          <p:nvPr/>
        </p:nvSpPr>
        <p:spPr>
          <a:xfrm>
            <a:off x="8083296"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sp>
      <p:sp>
        <p:nvSpPr>
          <p:cNvPr id="13" name="Text 10"/>
          <p:cNvSpPr txBox="1"/>
          <p:nvPr/>
        </p:nvSpPr>
        <p:spPr>
          <a:xfrm>
            <a:off x="11896344" y="8494776"/>
            <a:ext cx="3200400" cy="274320"/>
          </a:xfrm>
          <a:prstGeom prst="rect">
            <a:avLst/>
          </a:prstGeom>
          <a:noFill/>
          <a:ln/>
        </p:spPr>
        <p:txBody>
          <a:bodyPr wrap="square" lIns="0" tIns="0" rIns="0" bIns="0" rtlCol="0" anchor="t"/>
          <a:lstStyle/>
          <a:p>
            <a:pPr algn="l" indent="0" marL="0">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sp>
      <p:sp>
        <p:nvSpPr>
          <p:cNvPr id="15" name="Shape 12"/>
          <p:cNvSpPr/>
          <p:nvPr/>
        </p:nvSpPr>
        <p:spPr>
          <a:xfrm>
            <a:off x="12883896" y="9528048"/>
            <a:ext cx="182880" cy="182880"/>
          </a:xfrm>
          <a:prstGeom prst="ellipse">
            <a:avLst/>
          </a:prstGeom>
          <a:solidFill>
            <a:srgbClr val="761DDB">
              <a:alpha val="22000"/>
            </a:srgbClr>
          </a:solidFill>
          <a:ln/>
        </p:spPr>
      </p:sp>
      <p:sp>
        <p:nvSpPr>
          <p:cNvPr id="16" name="Shape 13"/>
          <p:cNvSpPr/>
          <p:nvPr/>
        </p:nvSpPr>
        <p:spPr>
          <a:xfrm>
            <a:off x="13139928" y="9528048"/>
            <a:ext cx="182880" cy="182880"/>
          </a:xfrm>
          <a:prstGeom prst="ellipse">
            <a:avLst/>
          </a:prstGeom>
          <a:solidFill>
            <a:srgbClr val="761DDB">
              <a:alpha val="22000"/>
            </a:srgbClr>
          </a:solidFill>
          <a:ln/>
        </p:spPr>
      </p:sp>
      <p:sp>
        <p:nvSpPr>
          <p:cNvPr id="17" name="Shape 14"/>
          <p:cNvSpPr/>
          <p:nvPr/>
        </p:nvSpPr>
        <p:spPr>
          <a:xfrm>
            <a:off x="13395960" y="9528048"/>
            <a:ext cx="182880" cy="182880"/>
          </a:xfrm>
          <a:prstGeom prst="ellipse">
            <a:avLst/>
          </a:prstGeom>
          <a:solidFill>
            <a:srgbClr val="761DDB">
              <a:alpha val="22000"/>
            </a:srgbClr>
          </a:solidFill>
          <a:ln/>
        </p:spPr>
      </p:sp>
      <p:sp>
        <p:nvSpPr>
          <p:cNvPr id="18" name="Shape 15"/>
          <p:cNvSpPr/>
          <p:nvPr/>
        </p:nvSpPr>
        <p:spPr>
          <a:xfrm>
            <a:off x="13651992" y="9528048"/>
            <a:ext cx="182880" cy="182880"/>
          </a:xfrm>
          <a:prstGeom prst="ellipse">
            <a:avLst/>
          </a:prstGeom>
          <a:solidFill>
            <a:srgbClr val="761DDB">
              <a:alpha val="22000"/>
            </a:srgbClr>
          </a:solidFill>
          <a:ln/>
        </p:spPr>
      </p:sp>
      <p:sp>
        <p:nvSpPr>
          <p:cNvPr id="19" name="Shape 16"/>
          <p:cNvSpPr/>
          <p:nvPr/>
        </p:nvSpPr>
        <p:spPr>
          <a:xfrm>
            <a:off x="13908024" y="9528048"/>
            <a:ext cx="182880" cy="182880"/>
          </a:xfrm>
          <a:prstGeom prst="ellipse">
            <a:avLst/>
          </a:prstGeom>
          <a:solidFill>
            <a:srgbClr val="761DDB">
              <a:alpha val="22000"/>
            </a:srgbClr>
          </a:solidFill>
          <a:ln/>
        </p:spPr>
      </p:sp>
      <p:sp>
        <p:nvSpPr>
          <p:cNvPr id="20" name="Shape 17"/>
          <p:cNvSpPr/>
          <p:nvPr/>
        </p:nvSpPr>
        <p:spPr>
          <a:xfrm>
            <a:off x="14164056" y="9528048"/>
            <a:ext cx="182880" cy="182880"/>
          </a:xfrm>
          <a:prstGeom prst="ellipse">
            <a:avLst/>
          </a:prstGeom>
          <a:solidFill>
            <a:srgbClr val="761DDB">
              <a:alpha val="22000"/>
            </a:srgbClr>
          </a:solidFill>
          <a:ln/>
        </p:spPr>
      </p:sp>
      <p:sp>
        <p:nvSpPr>
          <p:cNvPr id="21" name="Shape 18"/>
          <p:cNvSpPr/>
          <p:nvPr/>
        </p:nvSpPr>
        <p:spPr>
          <a:xfrm>
            <a:off x="14420088" y="9528048"/>
            <a:ext cx="182880" cy="182880"/>
          </a:xfrm>
          <a:prstGeom prst="ellipse">
            <a:avLst/>
          </a:prstGeom>
          <a:solidFill>
            <a:srgbClr val="761DDB">
              <a:alpha val="22000"/>
            </a:srgbClr>
          </a:solidFill>
          <a:ln/>
        </p:spPr>
      </p:sp>
      <p:sp>
        <p:nvSpPr>
          <p:cNvPr id="22" name="Shape 19"/>
          <p:cNvSpPr/>
          <p:nvPr/>
        </p:nvSpPr>
        <p:spPr>
          <a:xfrm>
            <a:off x="14676120" y="9528048"/>
            <a:ext cx="182880" cy="182880"/>
          </a:xfrm>
          <a:prstGeom prst="ellipse">
            <a:avLst/>
          </a:prstGeom>
          <a:solidFill>
            <a:srgbClr val="761DDB">
              <a:alpha val="22000"/>
            </a:srgbClr>
          </a:solidFill>
          <a:ln/>
        </p:spPr>
      </p:sp>
      <p:sp>
        <p:nvSpPr>
          <p:cNvPr id="23" name="Shape 20"/>
          <p:cNvSpPr/>
          <p:nvPr/>
        </p:nvSpPr>
        <p:spPr>
          <a:xfrm>
            <a:off x="14932152" y="9528048"/>
            <a:ext cx="182880" cy="182880"/>
          </a:xfrm>
          <a:prstGeom prst="ellipse">
            <a:avLst/>
          </a:prstGeom>
          <a:solidFill>
            <a:srgbClr val="761DDB"/>
          </a:solidFill>
          <a:ln/>
        </p:spPr>
      </p:sp>
      <p:sp>
        <p:nvSpPr>
          <p:cNvPr id="24" name="Shape 21"/>
          <p:cNvSpPr/>
          <p:nvPr/>
        </p:nvSpPr>
        <p:spPr>
          <a:xfrm>
            <a:off x="457200" y="3794760"/>
            <a:ext cx="4480560" cy="0"/>
          </a:xfrm>
          <a:prstGeom prst="line">
            <a:avLst/>
          </a:prstGeom>
          <a:noFill/>
          <a:ln w="12700">
            <a:solidFill>
              <a:srgbClr val="761DDB"/>
            </a:solidFill>
            <a:prstDash val="solid"/>
          </a:ln>
        </p:spPr>
      </p:sp>
      <p:sp>
        <p:nvSpPr>
          <p:cNvPr id="25" name="Text 22"/>
          <p:cNvSpPr txBox="1"/>
          <p:nvPr/>
        </p:nvSpPr>
        <p:spPr>
          <a:xfrm>
            <a:off x="45720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Let it think first</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Every answer here had to be a single letter, produced immediately. Give the model room to work the arithmetic out before it commits, and we learn whether it cannot compute or simply will not.</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sp>
      <p:sp>
        <p:nvSpPr>
          <p:cNvPr id="28" name="Text 25"/>
          <p:cNvSpPr txBox="1"/>
          <p:nvPr/>
        </p:nvSpPr>
        <p:spPr>
          <a:xfrm>
            <a:off x="553212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Make the stakes real</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Nothing was at stake in these questions. Denominating payoffs in a computation budget the model actually spends turns a hypothetical into an incentive, which is the piece that makes this method work on people.</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sp>
      <p:sp>
        <p:nvSpPr>
          <p:cNvPr id="31" name="Text 28"/>
          <p:cNvSpPr txBox="1"/>
          <p:nvPr/>
        </p:nvSpPr>
        <p:spPr>
          <a:xfrm>
            <a:off x="10607040" y="3977640"/>
            <a:ext cx="4480560" cy="1097280"/>
          </a:xfrm>
          <a:prstGeom prst="rect">
            <a:avLst/>
          </a:prstGeom>
          <a:noFill/>
          <a:ln/>
        </p:spPr>
        <p:txBody>
          <a:bodyPr wrap="square" lIns="0" tIns="0" rIns="0" bIns="0" rtlCol="0" anchor="t"/>
          <a:lstStyle/>
          <a:p>
            <a:pPr indent="0" marL="0">
              <a:lnSpc>
                <a:spcPct val="115000"/>
              </a:lnSpc>
              <a:buNone/>
            </a:pPr>
            <a:r>
              <a:rPr lang="en-US" sz="2700" dirty="0">
                <a:solidFill>
                  <a:srgbClr val="1C1C1E"/>
                </a:solidFill>
                <a:latin typeface="Georgia" pitchFamily="34" charset="0"/>
                <a:ea typeface="Georgia" pitchFamily="34" charset="-122"/>
                <a:cs typeface="Georgia" pitchFamily="34" charset="-120"/>
              </a:rPr>
              <a:t>Do AIs favor their own kind?</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indent="0" marL="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The same machinery measures social preferences. Does a model cooperate more with a counterpart it believes comes from its own family? Multi-agent deployments make that a procurement question.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RAND School of Public Policy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Phase 3 Findings</dc:title>
  <dc:subject>PptxGenJS Presentation</dc:subject>
  <dc:creator>J. Blakeslee</dc:creator>
  <cp:lastModifiedBy>J. Blakeslee</cp:lastModifiedBy>
  <cp:revision>1</cp:revision>
  <dcterms:created xsi:type="dcterms:W3CDTF">2026-09-02T02:29:14Z</dcterms:created>
  <dcterms:modified xsi:type="dcterms:W3CDTF">2026-09-02T02:29:14Z</dcterms:modified>
</cp:coreProperties>
</file>