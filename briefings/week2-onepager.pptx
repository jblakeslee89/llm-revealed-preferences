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5544800" cy="10058400"/>
  <p:notesSz cx="10058400" cy="1554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82" d="100"/>
          <a:sy n="82" d="100"/>
        </p:scale>
        <p:origin x="8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847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58C58"/>
            </a:solidFill>
            <a:prstDash val="solid"/>
          </a:ln>
        </p:spPr>
        <p:txBody>
          <a:bodyPr/>
          <a:lstStyle/>
          <a:p>
            <a:endParaRPr lang="en-US"/>
          </a:p>
        </p:txBody>
      </p:sp>
      <p:sp>
        <p:nvSpPr>
          <p:cNvPr id="3" name="Text 1"/>
          <p:cNvSpPr/>
          <p:nvPr/>
        </p:nvSpPr>
        <p:spPr>
          <a:xfrm>
            <a:off x="457200" y="868680"/>
            <a:ext cx="14173200" cy="868680"/>
          </a:xfrm>
          <a:prstGeom prst="rect">
            <a:avLst/>
          </a:prstGeom>
          <a:noFill/>
          <a:ln/>
        </p:spPr>
        <p:txBody>
          <a:bodyPr wrap="square" lIns="0" tIns="0" rIns="0" bIns="0" rtlCol="0" anchor="ctr"/>
          <a:lstStyle/>
          <a:p>
            <a:pPr marL="0" indent="0" algn="l">
              <a:buNone/>
            </a:pPr>
            <a:r>
              <a:rPr lang="en-US" sz="4400" dirty="0">
                <a:solidFill>
                  <a:srgbClr val="758C58"/>
                </a:solidFill>
                <a:latin typeface="Inter" pitchFamily="34" charset="0"/>
                <a:ea typeface="Inter" pitchFamily="34" charset="-122"/>
                <a:cs typeface="Inter" pitchFamily="34" charset="-120"/>
              </a:rPr>
              <a:t>*</a:t>
            </a:r>
            <a:r>
              <a:rPr lang="en-US" sz="4400" dirty="0">
                <a:solidFill>
                  <a:srgbClr val="000000"/>
                </a:solidFill>
                <a:latin typeface="Inter" pitchFamily="34" charset="0"/>
                <a:ea typeface="Inter" pitchFamily="34" charset="-122"/>
                <a:cs typeface="Inter" pitchFamily="34" charset="-120"/>
              </a:rPr>
              <a:t>Claude Fears the Word "Loss"</a:t>
            </a:r>
            <a:endParaRPr lang="en-US" sz="4400" dirty="0"/>
          </a:p>
        </p:txBody>
      </p:sp>
      <p:sp>
        <p:nvSpPr>
          <p:cNvPr id="4" name="Text 2"/>
          <p:cNvSpPr/>
          <p:nvPr/>
        </p:nvSpPr>
        <p:spPr>
          <a:xfrm>
            <a:off x="457200" y="1691640"/>
            <a:ext cx="14173200" cy="457200"/>
          </a:xfrm>
          <a:prstGeom prst="rect">
            <a:avLst/>
          </a:prstGeom>
          <a:noFill/>
          <a:ln/>
        </p:spPr>
        <p:txBody>
          <a:bodyPr wrap="square" lIns="0" tIns="0" rIns="0" bIns="0" rtlCol="0" anchor="ctr"/>
          <a:lstStyle/>
          <a:p>
            <a:pPr marL="0" indent="0" algn="l">
              <a:buNone/>
            </a:pPr>
            <a:r>
              <a:rPr lang="en-US" sz="2000" dirty="0">
                <a:solidFill>
                  <a:srgbClr val="758C58"/>
                </a:solidFill>
                <a:latin typeface="Inter" pitchFamily="34" charset="0"/>
                <a:ea typeface="Inter" pitchFamily="34" charset="-122"/>
                <a:cs typeface="Inter" pitchFamily="34" charset="-120"/>
              </a:rPr>
              <a:t>Week 2 · Phase 2 of 3 · I changed only the wording, and the AI changed its mind.</a:t>
            </a:r>
            <a:endParaRPr lang="en-US" sz="2000" dirty="0"/>
          </a:p>
        </p:txBody>
      </p:sp>
      <p:sp>
        <p:nvSpPr>
          <p:cNvPr id="5" name="Text 3"/>
          <p:cNvSpPr/>
          <p:nvPr/>
        </p:nvSpPr>
        <p:spPr>
          <a:xfrm>
            <a:off x="457200" y="2377440"/>
            <a:ext cx="6949440" cy="320040"/>
          </a:xfrm>
          <a:prstGeom prst="rect">
            <a:avLst/>
          </a:prstGeom>
          <a:noFill/>
          <a:ln/>
        </p:spPr>
        <p:txBody>
          <a:bodyPr wrap="square" lIns="0" tIns="0" rIns="0" bIns="0" rtlCol="0" anchor="t"/>
          <a:lstStyle/>
          <a:p>
            <a:pPr marL="0" indent="0" algn="l">
              <a:buNone/>
            </a:pPr>
            <a:r>
              <a:rPr lang="en-US" sz="1300" kern="0" spc="200" dirty="0">
                <a:solidFill>
                  <a:srgbClr val="758C58"/>
                </a:solidFill>
                <a:latin typeface="Inter" pitchFamily="34" charset="0"/>
                <a:ea typeface="Inter" pitchFamily="34" charset="-122"/>
                <a:cs typeface="Inter" pitchFamily="34" charset="-120"/>
              </a:rPr>
              <a:t>WHAT I DID</a:t>
            </a:r>
            <a:endParaRPr lang="en-US" sz="1300" dirty="0"/>
          </a:p>
        </p:txBody>
      </p:sp>
      <p:sp>
        <p:nvSpPr>
          <p:cNvPr id="6" name="Text 4"/>
          <p:cNvSpPr/>
          <p:nvPr/>
        </p:nvSpPr>
        <p:spPr>
          <a:xfrm>
            <a:off x="457200" y="2788920"/>
            <a:ext cx="6949440" cy="2560320"/>
          </a:xfrm>
          <a:prstGeom prst="rect">
            <a:avLst/>
          </a:prstGeom>
          <a:noFill/>
          <a:ln/>
        </p:spPr>
        <p:txBody>
          <a:bodyPr wrap="square" lIns="0" tIns="0" rIns="0" bIns="0" rtlCol="0" anchor="t"/>
          <a:lstStyle/>
          <a:p>
            <a:pPr marL="0" indent="0" algn="l">
              <a:buNone/>
            </a:pPr>
            <a:r>
              <a:rPr lang="en-US" sz="2000" b="1" dirty="0">
                <a:solidFill>
                  <a:srgbClr val="000000"/>
                </a:solidFill>
                <a:latin typeface="Inter" pitchFamily="34" charset="0"/>
                <a:ea typeface="Inter" pitchFamily="34" charset="-122"/>
                <a:cs typeface="Inter" pitchFamily="34" charset="-120"/>
              </a:rPr>
              <a:t>I offered the AI the very same gamble twice, changing only whether the downside was worded as "a loss" or as simply "getting nothing." The dollars and the odds were identical.</a:t>
            </a:r>
            <a:endParaRPr lang="en-US" sz="2000" b="1" dirty="0"/>
          </a:p>
        </p:txBody>
      </p:sp>
      <p:sp>
        <p:nvSpPr>
          <p:cNvPr id="7" name="Text 5"/>
          <p:cNvSpPr/>
          <p:nvPr/>
        </p:nvSpPr>
        <p:spPr>
          <a:xfrm>
            <a:off x="8138160" y="2377440"/>
            <a:ext cx="6949440" cy="320040"/>
          </a:xfrm>
          <a:prstGeom prst="rect">
            <a:avLst/>
          </a:prstGeom>
          <a:noFill/>
          <a:ln/>
        </p:spPr>
        <p:txBody>
          <a:bodyPr wrap="square" lIns="0" tIns="0" rIns="0" bIns="0" rtlCol="0" anchor="t"/>
          <a:lstStyle/>
          <a:p>
            <a:pPr marL="0" indent="0" algn="l">
              <a:buNone/>
            </a:pPr>
            <a:r>
              <a:rPr lang="en-US" sz="1300" kern="0" spc="200" dirty="0">
                <a:solidFill>
                  <a:srgbClr val="758C58"/>
                </a:solidFill>
                <a:latin typeface="Inter" pitchFamily="34" charset="0"/>
                <a:ea typeface="Inter" pitchFamily="34" charset="-122"/>
                <a:cs typeface="Inter" pitchFamily="34" charset="-120"/>
              </a:rPr>
              <a:t>WHAT HAPPENED</a:t>
            </a:r>
            <a:endParaRPr lang="en-US" sz="1300" dirty="0"/>
          </a:p>
        </p:txBody>
      </p:sp>
      <p:sp>
        <p:nvSpPr>
          <p:cNvPr id="8" name="Text 6"/>
          <p:cNvSpPr/>
          <p:nvPr/>
        </p:nvSpPr>
        <p:spPr>
          <a:xfrm>
            <a:off x="8138160" y="2788920"/>
            <a:ext cx="6949440" cy="2560320"/>
          </a:xfrm>
          <a:prstGeom prst="rect">
            <a:avLst/>
          </a:prstGeom>
          <a:noFill/>
          <a:ln/>
        </p:spPr>
        <p:txBody>
          <a:bodyPr wrap="square" lIns="0" tIns="0" rIns="0" bIns="0" rtlCol="0" anchor="t"/>
          <a:lstStyle/>
          <a:p>
            <a:pPr marL="0" indent="0" algn="l">
              <a:buNone/>
            </a:pPr>
            <a:r>
              <a:rPr lang="en-US" sz="2000" b="1" dirty="0">
                <a:solidFill>
                  <a:srgbClr val="000000"/>
                </a:solidFill>
                <a:latin typeface="Inter" pitchFamily="34" charset="0"/>
                <a:ea typeface="Inter" pitchFamily="34" charset="-122"/>
                <a:cs typeface="Inter" pitchFamily="34" charset="-120"/>
              </a:rPr>
              <a:t>It took the gamble about four times less often when the downside was called a loss. A built-in check question, where one option was clearly better, it got right every single time, so it was reading carefully.</a:t>
            </a:r>
            <a:endParaRPr lang="en-US" sz="2000" b="1" dirty="0"/>
          </a:p>
        </p:txBody>
      </p:sp>
      <p:sp>
        <p:nvSpPr>
          <p:cNvPr id="9" name="Text 7"/>
          <p:cNvSpPr/>
          <p:nvPr/>
        </p:nvSpPr>
        <p:spPr>
          <a:xfrm>
            <a:off x="457200" y="5852160"/>
            <a:ext cx="6949440" cy="320040"/>
          </a:xfrm>
          <a:prstGeom prst="rect">
            <a:avLst/>
          </a:prstGeom>
          <a:noFill/>
          <a:ln/>
        </p:spPr>
        <p:txBody>
          <a:bodyPr wrap="square" lIns="0" tIns="0" rIns="0" bIns="0" rtlCol="0" anchor="t"/>
          <a:lstStyle/>
          <a:p>
            <a:pPr marL="0" indent="0" algn="l">
              <a:buNone/>
            </a:pPr>
            <a:r>
              <a:rPr lang="en-US" sz="2400" kern="0" spc="200" dirty="0">
                <a:solidFill>
                  <a:srgbClr val="758C58"/>
                </a:solidFill>
                <a:latin typeface="Inter" pitchFamily="34" charset="0"/>
                <a:ea typeface="Inter" pitchFamily="34" charset="-122"/>
                <a:cs typeface="Inter" pitchFamily="34" charset="-120"/>
              </a:rPr>
              <a:t>WHY IT MATTERS</a:t>
            </a:r>
            <a:endParaRPr lang="en-US" sz="2400" dirty="0"/>
          </a:p>
        </p:txBody>
      </p:sp>
      <p:sp>
        <p:nvSpPr>
          <p:cNvPr id="10" name="Text 8"/>
          <p:cNvSpPr/>
          <p:nvPr/>
        </p:nvSpPr>
        <p:spPr>
          <a:xfrm>
            <a:off x="457200" y="6263640"/>
            <a:ext cx="6949440" cy="2651760"/>
          </a:xfrm>
          <a:prstGeom prst="rect">
            <a:avLst/>
          </a:prstGeom>
          <a:noFill/>
          <a:ln/>
        </p:spPr>
        <p:txBody>
          <a:bodyPr wrap="square" lIns="0" tIns="0" rIns="0" bIns="0" rtlCol="0" anchor="t"/>
          <a:lstStyle/>
          <a:p>
            <a:pPr marL="0" indent="0" algn="l">
              <a:buNone/>
            </a:pPr>
            <a:r>
              <a:rPr lang="en-US" sz="2000" dirty="0">
                <a:solidFill>
                  <a:srgbClr val="000000"/>
                </a:solidFill>
                <a:latin typeface="Inter" pitchFamily="34" charset="0"/>
                <a:ea typeface="Inter" pitchFamily="34" charset="-122"/>
                <a:cs typeface="Inter" pitchFamily="34" charset="-120"/>
              </a:rPr>
              <a:t>A sensible decider ignores the wording and looks at the money. This AI does not, so whoever writes the prompt can quietly steer its choices. It also shrinks from losses more sharply than people usually do (Kahneman &amp; Tversky 1979; Tversky &amp; Kahneman 1981).</a:t>
            </a:r>
            <a:endParaRPr lang="en-US" sz="2000" dirty="0"/>
          </a:p>
        </p:txBody>
      </p:sp>
      <p:sp>
        <p:nvSpPr>
          <p:cNvPr id="11" name="Text 9"/>
          <p:cNvSpPr/>
          <p:nvPr/>
        </p:nvSpPr>
        <p:spPr>
          <a:xfrm>
            <a:off x="8138160" y="5852160"/>
            <a:ext cx="6949440" cy="320040"/>
          </a:xfrm>
          <a:prstGeom prst="rect">
            <a:avLst/>
          </a:prstGeom>
          <a:noFill/>
          <a:ln/>
        </p:spPr>
        <p:txBody>
          <a:bodyPr wrap="square" lIns="0" tIns="0" rIns="0" bIns="0" rtlCol="0" anchor="t"/>
          <a:lstStyle/>
          <a:p>
            <a:pPr marL="0" indent="0" algn="l">
              <a:buNone/>
            </a:pPr>
            <a:r>
              <a:rPr lang="en-US" sz="2400" kern="0" spc="200" dirty="0">
                <a:solidFill>
                  <a:srgbClr val="758C58"/>
                </a:solidFill>
                <a:latin typeface="Inter" pitchFamily="34" charset="0"/>
                <a:ea typeface="Inter" pitchFamily="34" charset="-122"/>
                <a:cs typeface="Inter" pitchFamily="34" charset="-120"/>
              </a:rPr>
              <a:t>WHAT'S NEXT · PHASE 3 OF 3</a:t>
            </a:r>
            <a:endParaRPr lang="en-US" sz="2400" dirty="0"/>
          </a:p>
        </p:txBody>
      </p:sp>
      <p:sp>
        <p:nvSpPr>
          <p:cNvPr id="12" name="Text 10"/>
          <p:cNvSpPr/>
          <p:nvPr/>
        </p:nvSpPr>
        <p:spPr>
          <a:xfrm>
            <a:off x="8138160" y="6263640"/>
            <a:ext cx="6949440" cy="2651760"/>
          </a:xfrm>
          <a:prstGeom prst="rect">
            <a:avLst/>
          </a:prstGeom>
          <a:noFill/>
          <a:ln/>
        </p:spPr>
        <p:txBody>
          <a:bodyPr wrap="square" lIns="0" tIns="0" rIns="0" bIns="0" rtlCol="0" anchor="t"/>
          <a:lstStyle/>
          <a:p>
            <a:pPr marL="0" indent="0" algn="l">
              <a:buNone/>
            </a:pPr>
            <a:r>
              <a:rPr lang="en-US" sz="2000" dirty="0">
                <a:solidFill>
                  <a:srgbClr val="000000"/>
                </a:solidFill>
                <a:latin typeface="Inter" pitchFamily="34" charset="0"/>
                <a:ea typeface="Inter" pitchFamily="34" charset="-122"/>
                <a:cs typeface="Inter" pitchFamily="34" charset="-120"/>
              </a:rPr>
              <a:t>I compare the AI just before and just after its final training step, to find where this fear of losses was learned. That is the question this whole project was built to answer.</a:t>
            </a:r>
            <a:endParaRPr lang="en-US" sz="2000" dirty="0"/>
          </a:p>
        </p:txBody>
      </p:sp>
      <p:sp>
        <p:nvSpPr>
          <p:cNvPr id="13" name="Text 11"/>
          <p:cNvSpPr/>
          <p:nvPr/>
        </p:nvSpPr>
        <p:spPr>
          <a:xfrm>
            <a:off x="457200" y="9189720"/>
            <a:ext cx="14630400" cy="365760"/>
          </a:xfrm>
          <a:prstGeom prst="rect">
            <a:avLst/>
          </a:prstGeom>
          <a:noFill/>
          <a:ln/>
        </p:spPr>
        <p:txBody>
          <a:bodyPr wrap="square" lIns="0" tIns="0" rIns="0" bIns="0" rtlCol="0" anchor="ctr"/>
          <a:lstStyle/>
          <a:p>
            <a:pPr marL="0" indent="0" algn="l">
              <a:buNone/>
            </a:pPr>
            <a:r>
              <a:rPr lang="en-US" sz="1100" dirty="0">
                <a:solidFill>
                  <a:srgbClr val="000000"/>
                </a:solidFill>
                <a:latin typeface="Inter" pitchFamily="34" charset="0"/>
                <a:ea typeface="Inter" pitchFamily="34" charset="-122"/>
                <a:cs typeface="Inter" pitchFamily="34" charset="-120"/>
              </a:rPr>
              <a:t>Kahneman &amp; Tversky, 1979 · Tversky &amp; Kahneman, Science 1981 · Blakeslee, Phase 1 brief, Week 1</a:t>
            </a:r>
            <a:endParaRPr lang="en-US" sz="1100" dirty="0"/>
          </a:p>
        </p:txBody>
      </p:sp>
      <p:sp>
        <p:nvSpPr>
          <p:cNvPr id="14" name="Shape 12"/>
          <p:cNvSpPr/>
          <p:nvPr/>
        </p:nvSpPr>
        <p:spPr>
          <a:xfrm>
            <a:off x="14932152" y="9436608"/>
            <a:ext cx="182880" cy="182880"/>
          </a:xfrm>
          <a:prstGeom prst="ellipse">
            <a:avLst/>
          </a:prstGeom>
          <a:solidFill>
            <a:srgbClr val="758C58"/>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216</Words>
  <Application>Microsoft Macintosh PowerPoint</Application>
  <PresentationFormat>Custom</PresentationFormat>
  <Paragraphs>14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Inter</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Did the Training Teach the Bias?</dc:title>
  <dc:subject>PptxGenJS Presentation</dc:subject>
  <dc:creator>J. Blakeslee</dc:creator>
  <cp:lastModifiedBy>John Blakeslee</cp:lastModifiedBy>
  <cp:revision>2</cp:revision>
  <dcterms:created xsi:type="dcterms:W3CDTF">2026-07-06T19:29:41Z</dcterms:created>
  <dcterms:modified xsi:type="dcterms:W3CDTF">2026-07-06T19:36:19Z</dcterms:modified>
</cp:coreProperties>
</file>